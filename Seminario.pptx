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8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5" r:id="rId19"/>
    <p:sldId id="276" r:id="rId20"/>
    <p:sldId id="274" r:id="rId21"/>
    <p:sldId id="277" r:id="rId22"/>
    <p:sldId id="278" r:id="rId23"/>
    <p:sldId id="280" r:id="rId24"/>
    <p:sldId id="264" r:id="rId2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04"/>
    <p:restoredTop sz="94478"/>
  </p:normalViewPr>
  <p:slideViewPr>
    <p:cSldViewPr snapToGrid="0">
      <p:cViewPr varScale="1">
        <p:scale>
          <a:sx n="109" d="100"/>
          <a:sy n="109" d="100"/>
        </p:scale>
        <p:origin x="6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46F8BC-3D80-0044-AD95-3AA3296D938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1FB484-46D8-B84D-8785-22585A82B8D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3567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FB484-46D8-B84D-8785-22585A82B8D0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9748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28A1F0-E386-003C-2901-E2FE39F33B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1DDDA5C-28CE-D3DB-FD34-3C6AEE5DAA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B3EF718-CFD8-0B4A-6866-CE10A338E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ECAA-B77F-3F43-A192-583157B6F073}" type="datetimeFigureOut">
              <a:rPr lang="it-IT" smtClean="0"/>
              <a:t>13/05/26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258253-4580-0FF2-3F7B-B8D1D6C7B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C91C509-1908-29FB-3CA2-8FF093E4C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FB6AC-9B2B-914F-AE59-185DBD2FD1A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22558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0BEB42-C792-2ECB-C381-077AF216A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3E26264-9739-AECB-6721-2E6469E49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885A5AE-D1D6-6216-843F-F46391E7B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ECAA-B77F-3F43-A192-583157B6F073}" type="datetimeFigureOut">
              <a:rPr lang="it-IT" smtClean="0"/>
              <a:t>13/05/26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A93DC21-BDC0-13E9-9863-CE0EB8200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F00965C-7CCE-1BB4-5FDD-7D62E2BAE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FB6AC-9B2B-914F-AE59-185DBD2FD1A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29116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3518E3-3C77-3FD7-468D-475C16437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24C2042-B34C-CDCF-7589-84B86E328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6D8B696-6344-33F0-5FA5-531B67DB9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ECAA-B77F-3F43-A192-583157B6F073}" type="datetimeFigureOut">
              <a:rPr lang="it-IT" smtClean="0"/>
              <a:t>13/05/26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467CE3C-A720-457F-1B0F-F1293B00B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FF3C25B-2099-E7E1-32DF-F5F3BC3D3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FB6AC-9B2B-914F-AE59-185DBD2FD1A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78041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C1BAA7-1B23-A94C-1CE3-CE84C6CC2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DFAF38B-629E-ADB5-900B-14312C18C2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E97B746-4715-E03E-8240-1F21DBBAC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21F8229-6A62-3DD9-734D-39CDEAB54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ECAA-B77F-3F43-A192-583157B6F073}" type="datetimeFigureOut">
              <a:rPr lang="it-IT" smtClean="0"/>
              <a:t>13/05/26</a:t>
            </a:fld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BE86B20-B97B-B6D0-0869-B4CBA1A92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24762F5-1585-E95C-AF09-679ACF83E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FB6AC-9B2B-914F-AE59-185DBD2FD1A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05570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F3435D-883B-25FF-FA61-A3B244E77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800323C-DAE7-351A-5BA0-12E6A1D3F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FB283D4-CE24-95ED-D51D-0C4264957A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ECE68BB-6548-F467-B164-FD92C81B76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0D6E1F0-E967-F868-2D20-CB4A2A5F9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0609B9A8-F7F2-27EA-17B2-2D0DBB0BB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ECAA-B77F-3F43-A192-583157B6F073}" type="datetimeFigureOut">
              <a:rPr lang="it-IT" smtClean="0"/>
              <a:t>13/05/26</a:t>
            </a:fld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85AEA9F-87C5-940C-40A0-889EB3E22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7D94514-08EC-258D-CE34-5F95C12B1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FB6AC-9B2B-914F-AE59-185DBD2FD1A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43715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3BA53C-D00A-D782-4A6C-33983F4E8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1C889FB-C3EB-5C78-70C2-4042EE6CC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ECAA-B77F-3F43-A192-583157B6F073}" type="datetimeFigureOut">
              <a:rPr lang="it-IT" smtClean="0"/>
              <a:t>13/05/26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E382569-5788-F27D-249F-9BC951D8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3B6F5DB-F0CF-743C-E136-AD702FDC1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FB6AC-9B2B-914F-AE59-185DBD2FD1A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67839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F93264B-819D-0087-79A5-CBB9BB7F6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ECAA-B77F-3F43-A192-583157B6F073}" type="datetimeFigureOut">
              <a:rPr lang="it-IT" smtClean="0"/>
              <a:t>13/05/26</a:t>
            </a:fld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7DA4854-F114-4087-3D8D-2735B71D2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CB009A3-30F4-5DFD-9F0F-38AF23611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FB6AC-9B2B-914F-AE59-185DBD2FD1A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91913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B9FE9C-47D9-A088-60E8-8F2784CA1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8C2C851-BEE4-5D29-EBC4-3D12867B7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15EDA6A-25F0-0070-D404-C74AEDC7DF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C6BE3C7-904D-01CC-CD07-7EEA81EC9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ECAA-B77F-3F43-A192-583157B6F073}" type="datetimeFigureOut">
              <a:rPr lang="it-IT" smtClean="0"/>
              <a:t>13/05/26</a:t>
            </a:fld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AF38380-D341-7F06-0421-684E07E5D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6418BCC-A6C6-2E9A-92B5-2D41CA5C9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FB6AC-9B2B-914F-AE59-185DBD2FD1A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11367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E03196-4136-8CFC-61BE-AD7A93C3C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F79D599-D458-C59B-0E0F-5AFAB5118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952629B-92AA-6DB5-0013-EFB2955796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7FC9C47-D3DC-2C11-4BB7-55C3DC7AA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ECAA-B77F-3F43-A192-583157B6F073}" type="datetimeFigureOut">
              <a:rPr lang="it-IT" smtClean="0"/>
              <a:t>13/05/26</a:t>
            </a:fld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C6159C3-5302-8480-075C-F03DE7F9B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97CAAA9-A64A-CBFB-A795-AB07FF015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FB6AC-9B2B-914F-AE59-185DBD2FD1A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06633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40EE8C-DE1A-22A5-934B-142EFA773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A2524BF-7573-B5DD-E3BD-8FB94C7772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3640DDF-7ACA-A9C0-AFC3-035600F93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ECAA-B77F-3F43-A192-583157B6F073}" type="datetimeFigureOut">
              <a:rPr lang="it-IT" smtClean="0"/>
              <a:t>13/05/26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F8344B8-A594-C9E2-D0B9-45975F936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77E277A-E4D7-445D-C4A2-A1AD9B719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FB6AC-9B2B-914F-AE59-185DBD2FD1A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74231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C333F0-816E-22FE-A3D1-6F8BEC2E9F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057B5B2-ABA7-2DF9-2181-CCC143FE8A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AB472B1-7732-DCE5-214A-8D390E921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ECAA-B77F-3F43-A192-583157B6F073}" type="datetimeFigureOut">
              <a:rPr lang="it-IT" smtClean="0"/>
              <a:t>13/05/26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E94AD4E-E0B6-B70A-9643-CA13D79F4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443FE1D-AD8B-9B20-A03E-5B0E04CCD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FB6AC-9B2B-914F-AE59-185DBD2FD1A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29617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B75C124E-BE17-B123-1E0A-9087CB4CA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BF0508D-59BF-96F5-B89B-E14661E9F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5EF98FE-6288-E8EA-86CE-B7B05F303D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96ECAA-B77F-3F43-A192-583157B6F073}" type="datetimeFigureOut">
              <a:rPr lang="it-IT" smtClean="0"/>
              <a:t>13/05/26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912E85B-43F3-1F31-66C5-8067C333AC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F4D15E0-D80E-AF35-78D4-3103884907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9FB6AC-9B2B-914F-AE59-185DBD2FD1A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9498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911.03380" TargetMode="External"/><Relationship Id="rId7" Type="http://schemas.openxmlformats.org/officeDocument/2006/relationships/hyperlink" Target="https://web.stanford.edu/~boyd/cvxbook/bv_cvxbook.pdf" TargetMode="External"/><Relationship Id="rId2" Type="http://schemas.openxmlformats.org/officeDocument/2006/relationships/hyperlink" Target="https://app.uniswap.org/whitepaper-v3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pdf/2302.04938" TargetMode="External"/><Relationship Id="rId5" Type="http://schemas.openxmlformats.org/officeDocument/2006/relationships/hyperlink" Target="https://arxiv.org/pdf/2204.05238" TargetMode="External"/><Relationship Id="rId4" Type="http://schemas.openxmlformats.org/officeDocument/2006/relationships/hyperlink" Target="https://arxiv.org/pdf/2208.0604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D9CF2B-9D9B-246F-08AD-F2244CE88C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Automated Market Makers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7746F90-EC0D-2366-6E3D-5D7FE83CAD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533864"/>
          </a:xfrm>
        </p:spPr>
        <p:txBody>
          <a:bodyPr/>
          <a:lstStyle/>
          <a:p>
            <a:r>
              <a:rPr lang="it-IT" dirty="0"/>
              <a:t>The Push-and-Solve </a:t>
            </a:r>
            <a:r>
              <a:rPr lang="it-IT" dirty="0" err="1"/>
              <a:t>Algorithm</a:t>
            </a:r>
            <a:r>
              <a:rPr lang="it-IT" dirty="0"/>
              <a:t> for </a:t>
            </a:r>
            <a:r>
              <a:rPr lang="it-IT" dirty="0" err="1"/>
              <a:t>Uniswap</a:t>
            </a:r>
            <a:r>
              <a:rPr lang="it-IT" dirty="0"/>
              <a:t> v3 </a:t>
            </a:r>
            <a:r>
              <a:rPr lang="it-IT" dirty="0" err="1"/>
              <a:t>Clones</a:t>
            </a:r>
            <a:endParaRPr lang="en-GB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84BE977-A02D-4A92-0764-678B2CCE3753}"/>
              </a:ext>
            </a:extLst>
          </p:cNvPr>
          <p:cNvSpPr txBox="1"/>
          <p:nvPr/>
        </p:nvSpPr>
        <p:spPr>
          <a:xfrm>
            <a:off x="2715065" y="4664148"/>
            <a:ext cx="6161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Pandolfo Edoardo – Seminar Activity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3DDD7BC-BA89-28B2-8AAA-F74B9AFD648C}"/>
              </a:ext>
            </a:extLst>
          </p:cNvPr>
          <p:cNvSpPr txBox="1"/>
          <p:nvPr/>
        </p:nvSpPr>
        <p:spPr>
          <a:xfrm>
            <a:off x="820615" y="5934670"/>
            <a:ext cx="105507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Based on the paper: Vincent Danos, Leo Murao Watson, Hamza El </a:t>
            </a:r>
            <a:r>
              <a:rPr lang="it-IT" dirty="0" err="1"/>
              <a:t>Khalloufi</a:t>
            </a:r>
            <a:r>
              <a:rPr lang="it-IT" dirty="0"/>
              <a:t>, Santiago Valencia. </a:t>
            </a:r>
            <a:r>
              <a:rPr lang="it-IT" i="1" dirty="0"/>
              <a:t>On-chain </a:t>
            </a:r>
            <a:r>
              <a:rPr lang="it-IT" i="1" dirty="0" err="1"/>
              <a:t>optimal</a:t>
            </a:r>
            <a:r>
              <a:rPr lang="it-IT" i="1" dirty="0"/>
              <a:t> </a:t>
            </a:r>
            <a:r>
              <a:rPr lang="it-IT" i="1" dirty="0" err="1"/>
              <a:t>aggregation</a:t>
            </a:r>
            <a:r>
              <a:rPr lang="it-IT" i="1" dirty="0"/>
              <a:t> of </a:t>
            </a:r>
            <a:r>
              <a:rPr lang="it-IT" i="1" dirty="0" err="1"/>
              <a:t>Uniswap</a:t>
            </a:r>
            <a:r>
              <a:rPr lang="it-IT" i="1" dirty="0"/>
              <a:t> v3 </a:t>
            </a:r>
            <a:r>
              <a:rPr lang="it-IT" i="1" dirty="0" err="1"/>
              <a:t>clones</a:t>
            </a:r>
            <a:r>
              <a:rPr lang="it-IT" dirty="0"/>
              <a:t>. 2024. ⟨hal-04800479v2⟩</a:t>
            </a: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4450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8E081A6C-4F34-BD84-0545-480F3D395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2895"/>
          </a:xfrm>
        </p:spPr>
        <p:txBody>
          <a:bodyPr/>
          <a:lstStyle/>
          <a:p>
            <a:r>
              <a:rPr lang="it-IT" dirty="0"/>
              <a:t>CEX vs DEX</a:t>
            </a:r>
          </a:p>
        </p:txBody>
      </p:sp>
      <p:graphicFrame>
        <p:nvGraphicFramePr>
          <p:cNvPr id="9" name="Segnaposto contenuto 8">
            <a:extLst>
              <a:ext uri="{FF2B5EF4-FFF2-40B4-BE49-F238E27FC236}">
                <a16:creationId xmlns:a16="http://schemas.microsoft.com/office/drawing/2014/main" id="{1D804E34-E463-7146-BAD1-EB121698D2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6569403"/>
              </p:ext>
            </p:extLst>
          </p:nvPr>
        </p:nvGraphicFramePr>
        <p:xfrm>
          <a:off x="838200" y="1180618"/>
          <a:ext cx="10515597" cy="5506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4893624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08724220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949640480"/>
                    </a:ext>
                  </a:extLst>
                </a:gridCol>
              </a:tblGrid>
              <a:tr h="658709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Centralized Finance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Decentralized</a:t>
                      </a:r>
                      <a:r>
                        <a:rPr lang="it-IT" dirty="0"/>
                        <a:t> Finance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232945"/>
                  </a:ext>
                </a:extLst>
              </a:tr>
              <a:tr h="1043791">
                <a:tc>
                  <a:txBody>
                    <a:bodyPr/>
                    <a:lstStyle/>
                    <a:p>
                      <a:r>
                        <a:rPr lang="it-IT" b="1" dirty="0" err="1"/>
                        <a:t>infrastructure</a:t>
                      </a:r>
                      <a:endParaRPr lang="it-IT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b="1" dirty="0"/>
                        <a:t>Centralized servers</a:t>
                      </a:r>
                      <a:r>
                        <a:rPr lang="it-IT" dirty="0"/>
                        <a:t>: </a:t>
                      </a:r>
                      <a:r>
                        <a:rPr lang="it-IT" dirty="0" err="1"/>
                        <a:t>transactions</a:t>
                      </a:r>
                      <a:r>
                        <a:rPr lang="it-IT" dirty="0"/>
                        <a:t> </a:t>
                      </a:r>
                      <a:r>
                        <a:rPr lang="it-IT" dirty="0" err="1"/>
                        <a:t>managed</a:t>
                      </a:r>
                      <a:r>
                        <a:rPr lang="it-IT" dirty="0"/>
                        <a:t> by private </a:t>
                      </a:r>
                      <a:r>
                        <a:rPr lang="it-IT" dirty="0" err="1"/>
                        <a:t>entities</a:t>
                      </a:r>
                      <a:r>
                        <a:rPr lang="it-IT" dirty="0"/>
                        <a:t> (Ex. </a:t>
                      </a:r>
                      <a:r>
                        <a:rPr lang="it-IT" dirty="0" err="1"/>
                        <a:t>Binance</a:t>
                      </a:r>
                      <a:r>
                        <a:rPr lang="it-IT" dirty="0"/>
                        <a:t>, </a:t>
                      </a:r>
                      <a:r>
                        <a:rPr lang="it-IT" dirty="0" err="1"/>
                        <a:t>Crypto.com</a:t>
                      </a:r>
                      <a:r>
                        <a:rPr lang="it-IT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b="1" dirty="0"/>
                        <a:t>Blockchain &amp; Smart </a:t>
                      </a:r>
                      <a:r>
                        <a:rPr lang="it-IT" b="1" dirty="0" err="1"/>
                        <a:t>Contracts</a:t>
                      </a:r>
                      <a:r>
                        <a:rPr lang="it-IT" b="1" dirty="0"/>
                        <a:t>:</a:t>
                      </a:r>
                      <a:r>
                        <a:rPr lang="it-IT" dirty="0"/>
                        <a:t> Self-executing code on public </a:t>
                      </a:r>
                      <a:r>
                        <a:rPr lang="it-IT" dirty="0" err="1"/>
                        <a:t>ledgers</a:t>
                      </a:r>
                      <a:r>
                        <a:rPr lang="it-IT" dirty="0"/>
                        <a:t> (e.g., </a:t>
                      </a:r>
                      <a:r>
                        <a:rPr lang="it-IT" dirty="0" err="1"/>
                        <a:t>Ethereum</a:t>
                      </a:r>
                      <a:r>
                        <a:rPr lang="it-IT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757278"/>
                  </a:ext>
                </a:extLst>
              </a:tr>
              <a:tr h="1043791">
                <a:tc>
                  <a:txBody>
                    <a:bodyPr/>
                    <a:lstStyle/>
                    <a:p>
                      <a:r>
                        <a:rPr lang="it-IT" b="1" dirty="0"/>
                        <a:t>Market </a:t>
                      </a:r>
                      <a:r>
                        <a:rPr lang="it-IT" b="1" dirty="0" err="1"/>
                        <a:t>Mechanism</a:t>
                      </a:r>
                      <a:endParaRPr lang="it-IT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b="1" dirty="0"/>
                        <a:t>Limit Order Books (LOB):</a:t>
                      </a:r>
                      <a:r>
                        <a:rPr lang="it-IT" dirty="0"/>
                        <a:t> Matches </a:t>
                      </a:r>
                      <a:r>
                        <a:rPr lang="it-IT" dirty="0" err="1"/>
                        <a:t>buy</a:t>
                      </a:r>
                      <a:r>
                        <a:rPr lang="it-IT" dirty="0"/>
                        <a:t> and sell </a:t>
                      </a:r>
                      <a:r>
                        <a:rPr lang="it-IT" dirty="0" err="1"/>
                        <a:t>orders</a:t>
                      </a:r>
                      <a:r>
                        <a:rPr lang="it-IT" dirty="0"/>
                        <a:t> from </a:t>
                      </a:r>
                      <a:r>
                        <a:rPr lang="it-IT" dirty="0" err="1"/>
                        <a:t>participants</a:t>
                      </a:r>
                      <a:r>
                        <a:rPr lang="it-IT" dirty="0"/>
                        <a:t>. Based on supply and 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Automated</a:t>
                      </a:r>
                      <a:r>
                        <a:rPr lang="it-IT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Market Makers (AMM):</a:t>
                      </a:r>
                      <a:r>
                        <a:rPr lang="it-IT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automatically</a:t>
                      </a:r>
                      <a:r>
                        <a:rPr lang="it-IT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compute prices </a:t>
                      </a:r>
                      <a:r>
                        <a:rPr lang="it-IT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through</a:t>
                      </a:r>
                      <a:r>
                        <a:rPr lang="it-IT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 </a:t>
                      </a:r>
                      <a:r>
                        <a:rPr lang="it-IT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algorithm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633686"/>
                  </a:ext>
                </a:extLst>
              </a:tr>
              <a:tr h="730653">
                <a:tc>
                  <a:txBody>
                    <a:bodyPr/>
                    <a:lstStyle/>
                    <a:p>
                      <a:r>
                        <a:rPr lang="it-IT" b="1" dirty="0" err="1"/>
                        <a:t>Liquidity</a:t>
                      </a:r>
                      <a:r>
                        <a:rPr lang="it-IT" b="1" dirty="0"/>
                        <a:t> </a:t>
                      </a:r>
                      <a:r>
                        <a:rPr lang="it-IT" b="1" dirty="0" err="1"/>
                        <a:t>profile</a:t>
                      </a:r>
                      <a:r>
                        <a:rPr lang="it-IT" b="1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Usually</a:t>
                      </a:r>
                      <a:r>
                        <a:rPr lang="it-IT" dirty="0"/>
                        <a:t> do </a:t>
                      </a:r>
                      <a:r>
                        <a:rPr lang="it-IT" dirty="0" err="1"/>
                        <a:t>not</a:t>
                      </a:r>
                      <a:r>
                        <a:rPr lang="it-IT" dirty="0"/>
                        <a:t> </a:t>
                      </a:r>
                      <a:r>
                        <a:rPr lang="it-IT" dirty="0" err="1"/>
                        <a:t>exchange</a:t>
                      </a:r>
                      <a:r>
                        <a:rPr lang="it-IT" dirty="0"/>
                        <a:t> new assets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Suitable</a:t>
                      </a:r>
                      <a:r>
                        <a:rPr lang="it-IT" dirty="0"/>
                        <a:t> for </a:t>
                      </a:r>
                      <a:r>
                        <a:rPr lang="it-IT" b="1" dirty="0"/>
                        <a:t>low </a:t>
                      </a:r>
                      <a:r>
                        <a:rPr lang="it-IT" b="1" dirty="0" err="1"/>
                        <a:t>liquidity</a:t>
                      </a:r>
                      <a:r>
                        <a:rPr lang="it-IT" b="1" dirty="0"/>
                        <a:t> assets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162207"/>
                  </a:ext>
                </a:extLst>
              </a:tr>
              <a:tr h="1043791">
                <a:tc>
                  <a:txBody>
                    <a:bodyPr/>
                    <a:lstStyle/>
                    <a:p>
                      <a:r>
                        <a:rPr lang="it-IT" b="1" dirty="0"/>
                        <a:t>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b="1" dirty="0"/>
                        <a:t>Trading Fees:</a:t>
                      </a:r>
                      <a:r>
                        <a:rPr lang="it-IT" dirty="0"/>
                        <a:t> Fees </a:t>
                      </a:r>
                      <a:r>
                        <a:rPr lang="it-IT" dirty="0" err="1"/>
                        <a:t>paid</a:t>
                      </a:r>
                      <a:r>
                        <a:rPr lang="it-IT" dirty="0"/>
                        <a:t> to the </a:t>
                      </a:r>
                      <a:r>
                        <a:rPr lang="it-IT" dirty="0" err="1"/>
                        <a:t>exchange</a:t>
                      </a:r>
                      <a:endParaRPr lang="it-IT" dirty="0"/>
                    </a:p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b="1" dirty="0"/>
                        <a:t>Gas Fees + </a:t>
                      </a:r>
                      <a:r>
                        <a:rPr lang="it-IT" b="1" dirty="0" err="1"/>
                        <a:t>Slippage</a:t>
                      </a:r>
                      <a:r>
                        <a:rPr lang="it-IT" b="1" dirty="0"/>
                        <a:t> + LP </a:t>
                      </a:r>
                      <a:r>
                        <a:rPr lang="it-IT" b="1" dirty="0" err="1"/>
                        <a:t>fees</a:t>
                      </a:r>
                      <a:endParaRPr lang="it-IT" dirty="0"/>
                    </a:p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605022"/>
                  </a:ext>
                </a:extLst>
              </a:tr>
              <a:tr h="695649">
                <a:tc>
                  <a:txBody>
                    <a:bodyPr/>
                    <a:lstStyle/>
                    <a:p>
                      <a:r>
                        <a:rPr lang="it-IT" b="1" dirty="0" err="1"/>
                        <a:t>Advantages</a:t>
                      </a:r>
                      <a:endParaRPr lang="it-IT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More </a:t>
                      </a:r>
                      <a:r>
                        <a:rPr lang="it-IT" dirty="0" err="1"/>
                        <a:t>efficient</a:t>
                      </a:r>
                      <a:r>
                        <a:rPr lang="it-IT" dirty="0"/>
                        <a:t> (High frequency Trading), Fiiat on/off-Ramp…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Non-</a:t>
                      </a:r>
                      <a:r>
                        <a:rPr lang="it-IT" dirty="0" err="1"/>
                        <a:t>Custodial</a:t>
                      </a:r>
                      <a:r>
                        <a:rPr lang="it-IT" dirty="0"/>
                        <a:t>, </a:t>
                      </a:r>
                      <a:r>
                        <a:rPr lang="it-IT" dirty="0" err="1"/>
                        <a:t>Permissionless</a:t>
                      </a:r>
                      <a:r>
                        <a:rPr lang="it-IT" dirty="0"/>
                        <a:t>, </a:t>
                      </a:r>
                      <a:r>
                        <a:rPr lang="it-IT" dirty="0" err="1"/>
                        <a:t>transparency</a:t>
                      </a:r>
                      <a:r>
                        <a:rPr lang="it-IT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832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9811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48B1A7-A192-8383-C30C-4F56827C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5493"/>
          </a:xfrm>
        </p:spPr>
        <p:txBody>
          <a:bodyPr/>
          <a:lstStyle/>
          <a:p>
            <a:r>
              <a:rPr lang="en-GB" dirty="0"/>
              <a:t>CFMMs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45319D1F-AB3A-24D5-DB2D-4CC4AC8357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6365"/>
                <a:ext cx="10515600" cy="48805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Characterised by three components:</a:t>
                </a:r>
              </a:p>
              <a:p>
                <a:r>
                  <a:rPr lang="en-GB" i="1" u="sng" dirty="0"/>
                  <a:t>Liquidity Providers</a:t>
                </a:r>
                <a:r>
                  <a:rPr lang="en-GB" dirty="0"/>
                  <a:t>: deposit both the exchanged assets (called reserves,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b="0" i="1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b="0" i="1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b="0" i="1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GB" dirty="0"/>
                  <a:t>) in a fixed ratio into the </a:t>
                </a:r>
                <a:r>
                  <a:rPr lang="en-GB" i="1" dirty="0"/>
                  <a:t>liquidity pool</a:t>
                </a:r>
                <a:endParaRPr lang="en-GB" dirty="0"/>
              </a:p>
              <a:p>
                <a:r>
                  <a:rPr lang="en-GB" i="1" u="sng" dirty="0"/>
                  <a:t>Liquidity Takers</a:t>
                </a:r>
                <a:r>
                  <a:rPr lang="en-GB" dirty="0"/>
                  <a:t>: the traders who execute the buy or sell orders</a:t>
                </a:r>
                <a:r>
                  <a:rPr lang="en-GB" i="1" dirty="0"/>
                  <a:t>. </a:t>
                </a:r>
                <a:r>
                  <a:rPr lang="en-GB" dirty="0"/>
                  <a:t>Among them there are the </a:t>
                </a:r>
                <a:r>
                  <a:rPr lang="en-GB" i="1" dirty="0"/>
                  <a:t>arbitrageurs</a:t>
                </a:r>
                <a:r>
                  <a:rPr lang="en-GB" dirty="0"/>
                  <a:t>, responsible for aligning the price of the DEX to that of the CEX</a:t>
                </a:r>
              </a:p>
              <a:p>
                <a:r>
                  <a:rPr lang="en-GB" dirty="0"/>
                  <a:t>An </a:t>
                </a:r>
                <a:r>
                  <a:rPr lang="en-GB" i="1" u="sng" dirty="0"/>
                  <a:t>invariant mathematical function </a:t>
                </a:r>
                <a:r>
                  <a:rPr lang="en-GB" dirty="0"/>
                  <a:t>which determines the marginal price and its changing. 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i="1" dirty="0"/>
                  <a:t>Ex (Uniswap v.2)</a:t>
                </a:r>
                <a:r>
                  <a:rPr lang="en-GB" dirty="0"/>
                  <a:t>:                        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it-IT" b="0" dirty="0"/>
              </a:p>
              <a:p>
                <a:pPr marL="0" indent="0">
                  <a:buNone/>
                </a:pPr>
                <a:endParaRPr lang="it-IT" b="0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45319D1F-AB3A-24D5-DB2D-4CC4AC835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6365"/>
                <a:ext cx="10515600" cy="4880598"/>
              </a:xfrm>
              <a:blipFill>
                <a:blip r:embed="rId3"/>
                <a:stretch>
                  <a:fillRect l="-1206" t="-20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9881F5D2-DC6A-27B7-9B21-2F0AC09DF71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091717"/>
                <a:ext cx="10515600" cy="225184"/>
              </a:xfrm>
            </p:spPr>
            <p:txBody>
              <a:bodyPr>
                <a:normAutofit fontScale="90000"/>
              </a:bodyPr>
              <a:lstStyle/>
              <a:p>
                <a:pPr/>
                <a:r>
                  <a:rPr lang="en-GB" dirty="0"/>
                  <a:t>Simplified example: </a:t>
                </a:r>
                <a14:m>
                  <m:oMath xmlns:m="http://schemas.openxmlformats.org/officeDocument/2006/math">
                    <m:r>
                      <a:rPr lang="it-IT" b="0" i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≡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𝐸𝑇𝐻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𝑈𝑆𝐷𝑇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≡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it-IT" b="0" i="1" dirty="0">
                    <a:latin typeface="Cambria Math" panose="02040503050406030204" pitchFamily="18" charset="0"/>
                  </a:rPr>
                  <a:t> (</a:t>
                </a:r>
                <a:r>
                  <a:rPr lang="it-IT" b="0" i="1" dirty="0" err="1">
                    <a:latin typeface="Cambria Math" panose="02040503050406030204" pitchFamily="18" charset="0"/>
                  </a:rPr>
                  <a:t>Uniswap</a:t>
                </a:r>
                <a:r>
                  <a:rPr lang="it-IT" b="0" i="1" dirty="0">
                    <a:latin typeface="Cambria Math" panose="02040503050406030204" pitchFamily="18" charset="0"/>
                  </a:rPr>
                  <a:t> v.2) </a:t>
                </a:r>
                <a:br>
                  <a:rPr lang="it-IT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9881F5D2-DC6A-27B7-9B21-2F0AC09DF7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091717"/>
                <a:ext cx="10515600" cy="225184"/>
              </a:xfrm>
              <a:blipFill>
                <a:blip r:embed="rId2"/>
                <a:stretch>
                  <a:fillRect l="-2171" t="-384211" b="-3947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7E113237-3011-0525-3386-FF521BEEE3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70134"/>
                <a:ext cx="10515600" cy="519311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Let the CEX price of 1 ETH be 3000USDT. Suppose no fees.</a:t>
                </a:r>
              </a:p>
              <a:p>
                <a:r>
                  <a:rPr lang="en-GB" dirty="0"/>
                  <a:t>A liquidity provider deposits 1 x and 3000 y in the pool (mandatory to avoid immediate arbitrage). The price now moves along the curve</a:t>
                </a:r>
                <a14:m>
                  <m:oMath xmlns:m="http://schemas.openxmlformats.org/officeDocument/2006/math">
                    <m:r>
                      <a:rPr lang="it-IT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⋅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=3000</m:t>
                    </m:r>
                    <m:r>
                      <a:rPr lang="it-IT" b="0" i="0" smtClean="0">
                        <a:latin typeface="Cambria Math" panose="02040503050406030204" pitchFamily="18" charset="0"/>
                      </a:rPr>
                      <m:t>.  </m:t>
                    </m:r>
                  </m:oMath>
                </a14:m>
                <a:endParaRPr lang="it-IT" b="0" dirty="0"/>
              </a:p>
              <a:p>
                <a:r>
                  <a:rPr lang="en-GB" dirty="0"/>
                  <a:t>The amount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it-IT" dirty="0"/>
                  <a:t> </a:t>
                </a:r>
                <a:r>
                  <a:rPr lang="en-GB" dirty="0"/>
                  <a:t>that we receive,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it-IT" dirty="0"/>
                  <a:t>, </a:t>
                </a:r>
                <a:r>
                  <a:rPr lang="en-GB" dirty="0"/>
                  <a:t>has to be such that</a:t>
                </a:r>
              </a:p>
              <a:p>
                <a:pPr marL="0" indent="0">
                  <a:buNone/>
                </a:pPr>
                <a:r>
                  <a:rPr lang="it-IT" b="0" dirty="0"/>
                  <a:t>			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it-IT" b="0" i="0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it-IT" b="0" i="0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b="0" dirty="0"/>
                  <a:t>= 3000</a:t>
                </a:r>
                <a:endParaRPr lang="en-GB" dirty="0"/>
              </a:p>
              <a:p>
                <a:r>
                  <a:rPr lang="en-GB" dirty="0"/>
                  <a:t> The marginal price </a:t>
                </a:r>
                <a:r>
                  <a:rPr lang="en-GB" i="1" dirty="0"/>
                  <a:t>p</a:t>
                </a:r>
                <a:r>
                  <a:rPr lang="en-GB" dirty="0"/>
                  <a:t> is given by the infinitesimal trade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7E113237-3011-0525-3386-FF521BEEE3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70134"/>
                <a:ext cx="10515600" cy="5193115"/>
              </a:xfrm>
              <a:blipFill>
                <a:blip r:embed="rId3"/>
                <a:stretch>
                  <a:fillRect l="-1206" t="-2200" r="-7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utoShape 2" descr="Immagine selezionata presentata in un lightbox.">
            <a:extLst>
              <a:ext uri="{FF2B5EF4-FFF2-40B4-BE49-F238E27FC236}">
                <a16:creationId xmlns:a16="http://schemas.microsoft.com/office/drawing/2014/main" id="{2661F7A0-B29C-23CD-6A8C-AFD16D9775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4" descr="Immagine selezionata presentata in un lightbox.">
            <a:extLst>
              <a:ext uri="{FF2B5EF4-FFF2-40B4-BE49-F238E27FC236}">
                <a16:creationId xmlns:a16="http://schemas.microsoft.com/office/drawing/2014/main" id="{C5892BF6-28DB-BC75-9FD7-F92B3D6B7F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BAEF8EB7-18A1-1DBD-9273-01E9C328ED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7932" y="5469517"/>
            <a:ext cx="5311335" cy="77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475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C98DE240-B212-D01F-9CEC-965922F03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241" y="2365988"/>
            <a:ext cx="4118460" cy="31982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5727EED4-2A4D-1F9A-C920-BE0EDCC2F1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70390"/>
                <a:ext cx="10515600" cy="6301886"/>
              </a:xfrm>
            </p:spPr>
            <p:txBody>
              <a:bodyPr/>
              <a:lstStyle/>
              <a:p>
                <a:pPr marL="0">
                  <a:lnSpc>
                    <a:spcPct val="100000"/>
                  </a:lnSpc>
                  <a:spcAft>
                    <a:spcPts val="1200"/>
                  </a:spcAft>
                </a:pPr>
                <a:r>
                  <a:rPr lang="en-GB" b="1" dirty="0"/>
                  <a:t>slippage</a:t>
                </a:r>
                <a:r>
                  <a:rPr lang="en-GB" dirty="0"/>
                  <a:t>: how much we actually receive:</a:t>
                </a:r>
              </a:p>
              <a:p>
                <a:pPr marL="0" indent="0">
                  <a:lnSpc>
                    <a:spcPct val="100000"/>
                  </a:lnSpc>
                  <a:spcAft>
                    <a:spcPts val="1200"/>
                  </a:spcAft>
                  <a:buNone/>
                </a:pPr>
                <a:r>
                  <a:rPr lang="en-GB" b="0" dirty="0"/>
                  <a:t>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it-IT" b="0" i="0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it-IT" b="0" i="0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r>
                  <a:rPr lang="it-IT" b="0" i="1" dirty="0">
                    <a:latin typeface="Cambria Math" panose="02040503050406030204" pitchFamily="18" charset="0"/>
                  </a:rPr>
                  <a:t>                        </a:t>
                </a:r>
              </a:p>
              <a:p>
                <a:pPr marL="0" indent="0">
                  <a:lnSpc>
                    <a:spcPct val="100000"/>
                  </a:lnSpc>
                  <a:spcAft>
                    <a:spcPts val="1200"/>
                  </a:spcAft>
                  <a:buNone/>
                </a:pPr>
                <a:r>
                  <a:rPr lang="it-IT" sz="1600" b="0" i="1" dirty="0" err="1">
                    <a:solidFill>
                      <a:schemeClr val="bg1"/>
                    </a:solidFill>
                    <a:latin typeface="+mj-lt"/>
                  </a:rPr>
                  <a:t>gg</a:t>
                </a:r>
                <a:r>
                  <a:rPr lang="it-IT" sz="1600" dirty="0" err="1">
                    <a:latin typeface="+mj-lt"/>
                  </a:rPr>
                  <a:t>Graphical</a:t>
                </a:r>
                <a:r>
                  <a:rPr lang="it-IT" sz="1600" dirty="0">
                    <a:latin typeface="+mj-lt"/>
                  </a:rPr>
                  <a:t> </a:t>
                </a:r>
                <a:r>
                  <a:rPr lang="it-IT" sz="1600" dirty="0" err="1">
                    <a:latin typeface="+mj-lt"/>
                  </a:rPr>
                  <a:t>representation</a:t>
                </a:r>
                <a:r>
                  <a:rPr lang="it-IT" sz="1600" dirty="0">
                    <a:latin typeface="+mj-lt"/>
                  </a:rPr>
                  <a:t> of </a:t>
                </a:r>
                <a:r>
                  <a:rPr lang="it-IT" sz="1600" dirty="0" err="1">
                    <a:latin typeface="+mj-lt"/>
                  </a:rPr>
                  <a:t>Uniswap</a:t>
                </a:r>
                <a:r>
                  <a:rPr lang="it-IT" sz="1600" dirty="0">
                    <a:latin typeface="+mj-lt"/>
                  </a:rPr>
                  <a:t> V.2:</a:t>
                </a:r>
                <a:endParaRPr lang="it-IT" sz="1600" b="0" i="1" dirty="0">
                  <a:latin typeface="+mj-lt"/>
                </a:endParaRPr>
              </a:p>
              <a:p>
                <a:pPr marL="0" indent="0">
                  <a:lnSpc>
                    <a:spcPct val="100000"/>
                  </a:lnSpc>
                  <a:spcAft>
                    <a:spcPts val="1200"/>
                  </a:spcAft>
                  <a:buNone/>
                </a:pPr>
                <a:endParaRPr lang="it-IT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Aft>
                    <a:spcPts val="1200"/>
                  </a:spcAft>
                  <a:buNone/>
                </a:pPr>
                <a:endParaRPr lang="it-IT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5727EED4-2A4D-1F9A-C920-BE0EDCC2F1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70390"/>
                <a:ext cx="10515600" cy="6301886"/>
              </a:xfrm>
              <a:blipFill>
                <a:blip r:embed="rId3"/>
                <a:stretch>
                  <a:fillRect l="-1086" t="-10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6336C61E-72E6-3EEA-E637-C4CF9EC76522}"/>
              </a:ext>
            </a:extLst>
          </p:cNvPr>
          <p:cNvSpPr txBox="1"/>
          <p:nvPr/>
        </p:nvSpPr>
        <p:spPr>
          <a:xfrm>
            <a:off x="352063" y="6575214"/>
            <a:ext cx="46597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https://</a:t>
            </a:r>
            <a:r>
              <a:rPr lang="en-GB" sz="1200" dirty="0" err="1"/>
              <a:t>www.geogebra.org</a:t>
            </a:r>
            <a:r>
              <a:rPr lang="en-GB" sz="1200" dirty="0"/>
              <a:t>/calculator/u7tvacxv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01ED614-A0B7-8317-ED9E-D087628FD858}"/>
              </a:ext>
            </a:extLst>
          </p:cNvPr>
          <p:cNvSpPr txBox="1"/>
          <p:nvPr/>
        </p:nvSpPr>
        <p:spPr>
          <a:xfrm>
            <a:off x="1207959" y="5744217"/>
            <a:ext cx="36180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  <a:highlight>
                  <a:srgbClr val="FF0000"/>
                </a:highlight>
              </a:rPr>
              <a:t>A d </a:t>
            </a:r>
            <a:r>
              <a:rPr lang="en-GB" sz="1200" dirty="0">
                <a:solidFill>
                  <a:srgbClr val="FF0000"/>
                </a:solidFill>
              </a:rPr>
              <a:t>   </a:t>
            </a:r>
            <a:r>
              <a:rPr lang="en-GB" sz="1200" dirty="0"/>
              <a:t>= price</a:t>
            </a:r>
          </a:p>
          <a:p>
            <a:endParaRPr lang="en-GB" sz="1200" dirty="0">
              <a:solidFill>
                <a:srgbClr val="FF0000"/>
              </a:solidFill>
            </a:endParaRPr>
          </a:p>
          <a:p>
            <a:r>
              <a:rPr lang="en-GB" sz="1200" dirty="0">
                <a:solidFill>
                  <a:srgbClr val="0043CC"/>
                </a:solidFill>
                <a:highlight>
                  <a:srgbClr val="0000FF"/>
                </a:highlight>
              </a:rPr>
              <a:t>        </a:t>
            </a:r>
            <a:r>
              <a:rPr lang="en-GB" sz="1200" dirty="0">
                <a:solidFill>
                  <a:srgbClr val="0043CC"/>
                </a:solidFill>
              </a:rPr>
              <a:t>    </a:t>
            </a:r>
            <a:r>
              <a:rPr lang="en-GB" sz="1200" dirty="0"/>
              <a:t>= {</a:t>
            </a:r>
            <a:r>
              <a:rPr lang="en-GB" sz="1200" dirty="0" err="1"/>
              <a:t>yx</a:t>
            </a:r>
            <a:r>
              <a:rPr lang="en-GB" sz="1200" dirty="0"/>
              <a:t> = k, z = 0}</a:t>
            </a:r>
            <a:endParaRPr lang="en-GB" sz="1200" dirty="0">
              <a:solidFill>
                <a:srgbClr val="FF0000"/>
              </a:solidFill>
            </a:endParaRPr>
          </a:p>
          <a:p>
            <a:endParaRPr lang="en-GB" sz="1200" dirty="0">
              <a:solidFill>
                <a:srgbClr val="FF0000"/>
              </a:solidFill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A7AFBB57-EC82-8580-A343-212CDC2DBE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531" y="2545924"/>
            <a:ext cx="5117269" cy="3198293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172266A-69CA-92AA-A24A-7013CAFECAAF}"/>
              </a:ext>
            </a:extLst>
          </p:cNvPr>
          <p:cNvSpPr txBox="1"/>
          <p:nvPr/>
        </p:nvSpPr>
        <p:spPr>
          <a:xfrm>
            <a:off x="6776191" y="5280188"/>
            <a:ext cx="400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Distribution of liquidity in Uniswap v2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4CEC201D-7E6C-87C2-FDD4-065F905FEA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6191" y="1106529"/>
            <a:ext cx="2479206" cy="1022672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C2AAD16C-911E-BC39-7C92-CAB3163A2473}"/>
              </a:ext>
            </a:extLst>
          </p:cNvPr>
          <p:cNvSpPr txBox="1"/>
          <p:nvPr/>
        </p:nvSpPr>
        <p:spPr>
          <a:xfrm>
            <a:off x="9442284" y="950326"/>
            <a:ext cx="17246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Here the second derivative shows that the slippage decreases if we have more reserves</a:t>
            </a:r>
          </a:p>
        </p:txBody>
      </p:sp>
    </p:spTree>
    <p:extLst>
      <p:ext uri="{BB962C8B-B14F-4D97-AF65-F5344CB8AC3E}">
        <p14:creationId xmlns:p14="http://schemas.microsoft.com/office/powerpoint/2010/main" val="936116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9D3B73-848F-4080-33CC-DA9B189CA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195"/>
            <a:ext cx="10515600" cy="495843"/>
          </a:xfrm>
        </p:spPr>
        <p:txBody>
          <a:bodyPr>
            <a:normAutofit fontScale="90000"/>
          </a:bodyPr>
          <a:lstStyle/>
          <a:p>
            <a:r>
              <a:rPr lang="en-GB" dirty="0"/>
              <a:t>Uniswap v.3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52623E65-2EF4-8CE0-82F9-C6AB6587A5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539" y="856527"/>
                <a:ext cx="11516810" cy="5567422"/>
              </a:xfrm>
            </p:spPr>
            <p:txBody>
              <a:bodyPr/>
              <a:lstStyle/>
              <a:p>
                <a:r>
                  <a:rPr lang="en-GB" sz="2400" dirty="0"/>
                  <a:t>Motivation: capital inefficiency, Imitation of centralized markets  (in an </a:t>
                </a:r>
                <a:r>
                  <a:rPr lang="en-GB" sz="2400" i="1" dirty="0"/>
                  <a:t>on-chain </a:t>
                </a:r>
                <a:r>
                  <a:rPr lang="en-GB" sz="2400" dirty="0"/>
                  <a:t>environment).</a:t>
                </a:r>
              </a:p>
              <a:p>
                <a:pPr marL="0" indent="0">
                  <a:buNone/>
                </a:pPr>
                <a:r>
                  <a:rPr lang="it-IT" sz="2400" i="1" dirty="0" err="1"/>
                  <a:t>Uniswap</a:t>
                </a:r>
                <a:r>
                  <a:rPr lang="it-IT" sz="2400" i="1" dirty="0"/>
                  <a:t> v1 and v2, </a:t>
                </a:r>
                <a:r>
                  <a:rPr lang="it-IT" sz="2400" i="1" dirty="0" err="1"/>
                  <a:t>only</a:t>
                </a:r>
                <a:r>
                  <a:rPr lang="it-IT" sz="2400" i="1" dirty="0"/>
                  <a:t> a </a:t>
                </a:r>
                <a:r>
                  <a:rPr lang="it-IT" sz="2400" i="1" dirty="0" err="1"/>
                  <a:t>fraction</a:t>
                </a:r>
                <a:r>
                  <a:rPr lang="it-IT" sz="2400" i="1" dirty="0"/>
                  <a:t> of the assets in the pool are </a:t>
                </a:r>
                <a:r>
                  <a:rPr lang="it-IT" sz="2400" i="1" dirty="0" err="1"/>
                  <a:t>available</a:t>
                </a:r>
                <a:r>
                  <a:rPr lang="it-IT" sz="2400" i="1" dirty="0"/>
                  <a:t> </a:t>
                </a:r>
                <a:r>
                  <a:rPr lang="it-IT" sz="2400" i="1" dirty="0" err="1"/>
                  <a:t>at</a:t>
                </a:r>
                <a:r>
                  <a:rPr lang="it-IT" sz="2400" i="1" dirty="0"/>
                  <a:t> a </a:t>
                </a:r>
                <a:r>
                  <a:rPr lang="it-IT" sz="2400" i="1" dirty="0" err="1"/>
                  <a:t>given</a:t>
                </a:r>
                <a:r>
                  <a:rPr lang="it-IT" sz="2400" i="1" dirty="0"/>
                  <a:t> price. </a:t>
                </a:r>
                <a:r>
                  <a:rPr lang="it-IT" sz="2400" i="1" dirty="0" err="1"/>
                  <a:t>This</a:t>
                </a:r>
                <a:r>
                  <a:rPr lang="it-IT" sz="2400" i="1" dirty="0"/>
                  <a:t> </a:t>
                </a:r>
                <a:r>
                  <a:rPr lang="it-IT" sz="2400" i="1" dirty="0" err="1"/>
                  <a:t>is</a:t>
                </a:r>
                <a:r>
                  <a:rPr lang="it-IT" sz="2400" i="1" dirty="0"/>
                  <a:t> </a:t>
                </a:r>
                <a:r>
                  <a:rPr lang="it-IT" sz="2400" i="1" dirty="0" err="1"/>
                  <a:t>inefficient</a:t>
                </a:r>
                <a:r>
                  <a:rPr lang="it-IT" sz="2400" i="1" dirty="0"/>
                  <a:t>, </a:t>
                </a:r>
                <a:r>
                  <a:rPr lang="it-IT" sz="2400" i="1" dirty="0" err="1"/>
                  <a:t>particularly</a:t>
                </a:r>
                <a:r>
                  <a:rPr lang="it-IT" sz="2400" i="1" dirty="0"/>
                  <a:t> </a:t>
                </a:r>
                <a:r>
                  <a:rPr lang="it-IT" sz="2400" i="1" dirty="0" err="1"/>
                  <a:t>when</a:t>
                </a:r>
                <a:r>
                  <a:rPr lang="it-IT" sz="2400" i="1" dirty="0"/>
                  <a:t> assets are </a:t>
                </a:r>
                <a:r>
                  <a:rPr lang="it-IT" sz="2400" i="1" dirty="0" err="1"/>
                  <a:t>expected</a:t>
                </a:r>
                <a:r>
                  <a:rPr lang="it-IT" sz="2400" i="1" dirty="0"/>
                  <a:t> to trade close to a </a:t>
                </a:r>
                <a:r>
                  <a:rPr lang="it-IT" sz="2400" i="1" dirty="0" err="1"/>
                  <a:t>particular</a:t>
                </a:r>
                <a:r>
                  <a:rPr lang="it-IT" sz="2400" i="1" dirty="0"/>
                  <a:t> price </a:t>
                </a:r>
                <a:r>
                  <a:rPr lang="it-IT" sz="2400" i="1" dirty="0" err="1"/>
                  <a:t>at</a:t>
                </a:r>
                <a:r>
                  <a:rPr lang="it-IT" sz="2400" i="1" dirty="0"/>
                  <a:t> </a:t>
                </a:r>
                <a:r>
                  <a:rPr lang="it-IT" sz="2400" i="1" dirty="0" err="1"/>
                  <a:t>all</a:t>
                </a:r>
                <a:r>
                  <a:rPr lang="it-IT" sz="2400" i="1" dirty="0"/>
                  <a:t> times.</a:t>
                </a:r>
              </a:p>
              <a:p>
                <a:r>
                  <a:rPr lang="it-IT" sz="2400" b="1" dirty="0" err="1"/>
                  <a:t>Concentrated</a:t>
                </a:r>
                <a:r>
                  <a:rPr lang="it-IT" sz="2400" b="1" dirty="0"/>
                  <a:t> </a:t>
                </a:r>
                <a:r>
                  <a:rPr lang="it-IT" sz="2400" b="1" dirty="0" err="1"/>
                  <a:t>Liquidity</a:t>
                </a:r>
                <a:r>
                  <a:rPr lang="it-IT" sz="2400" b="1" dirty="0"/>
                  <a:t>: </a:t>
                </a:r>
                <a:r>
                  <a:rPr lang="it-IT" sz="2400" dirty="0" err="1"/>
                  <a:t>LP’s</a:t>
                </a:r>
                <a:r>
                  <a:rPr lang="it-IT" sz="2400" dirty="0"/>
                  <a:t> are </a:t>
                </a:r>
                <a:r>
                  <a:rPr lang="it-IT" sz="2400" dirty="0" err="1"/>
                  <a:t>allowed</a:t>
                </a:r>
                <a:r>
                  <a:rPr lang="it-IT" sz="2400" dirty="0"/>
                  <a:t> to concentrate </a:t>
                </a:r>
                <a:r>
                  <a:rPr lang="it-IT" sz="2400" dirty="0" err="1"/>
                  <a:t>their</a:t>
                </a:r>
                <a:r>
                  <a:rPr lang="it-IT" sz="2400" dirty="0"/>
                  <a:t> </a:t>
                </a:r>
                <a:r>
                  <a:rPr lang="it-IT" sz="2400" dirty="0" err="1"/>
                  <a:t>liquidity</a:t>
                </a:r>
                <a:r>
                  <a:rPr lang="it-IT" sz="2400" dirty="0"/>
                  <a:t> to </a:t>
                </a:r>
                <a:r>
                  <a:rPr lang="it-IT" sz="2400" dirty="0" err="1"/>
                  <a:t>smaller</a:t>
                </a:r>
                <a:r>
                  <a:rPr lang="it-IT" sz="2400" dirty="0"/>
                  <a:t> price ranges </a:t>
                </a:r>
                <a:r>
                  <a:rPr lang="it-IT" sz="2400" dirty="0" err="1"/>
                  <a:t>than</a:t>
                </a:r>
                <a:r>
                  <a:rPr lang="it-IT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0,∞</m:t>
                        </m:r>
                      </m:e>
                    </m:d>
                  </m:oMath>
                </a14:m>
                <a:r>
                  <a:rPr lang="it-IT" sz="2400" b="0" dirty="0"/>
                  <a:t>. </a:t>
                </a:r>
                <a:r>
                  <a:rPr lang="it-IT" sz="2400" b="0" dirty="0" err="1"/>
                  <a:t>They</a:t>
                </a:r>
                <a:r>
                  <a:rPr lang="it-IT" sz="2400" b="0" dirty="0"/>
                  <a:t> can </a:t>
                </a:r>
                <a:r>
                  <a:rPr lang="it-IT" sz="2400" b="0" dirty="0" err="1"/>
                  <a:t>also</a:t>
                </a:r>
                <a:r>
                  <a:rPr lang="it-IT" sz="2400" b="0" dirty="0"/>
                  <a:t> create </a:t>
                </a:r>
                <a:r>
                  <a:rPr lang="it-IT" sz="2400" b="0" dirty="0" err="1"/>
                  <a:t>different</a:t>
                </a:r>
                <a:r>
                  <a:rPr lang="it-IT" sz="2400" b="0" dirty="0"/>
                  <a:t> </a:t>
                </a:r>
                <a:r>
                  <a:rPr lang="it-IT" sz="2400" b="0" dirty="0" err="1"/>
                  <a:t>combinations</a:t>
                </a:r>
                <a:r>
                  <a:rPr lang="it-IT" sz="2400" b="0" dirty="0"/>
                  <a:t> of </a:t>
                </a:r>
                <a:r>
                  <a:rPr lang="it-IT" sz="2400" b="0" i="1" dirty="0"/>
                  <a:t>positions</a:t>
                </a:r>
                <a:r>
                  <a:rPr lang="it-IT" sz="2400" b="0" dirty="0"/>
                  <a:t>.</a:t>
                </a:r>
              </a:p>
              <a:p>
                <a:endParaRPr lang="it-IT" sz="2200" dirty="0"/>
              </a:p>
              <a:p>
                <a:endParaRPr lang="it-IT" sz="2200" b="0" dirty="0"/>
              </a:p>
              <a:p>
                <a:endParaRPr lang="it-IT" sz="2200" dirty="0"/>
              </a:p>
              <a:p>
                <a:endParaRPr lang="it-IT" sz="2200" b="0" dirty="0"/>
              </a:p>
              <a:p>
                <a:endParaRPr lang="it-IT" sz="2200" dirty="0"/>
              </a:p>
              <a:p>
                <a:endParaRPr lang="it-IT" sz="2200" b="0" dirty="0"/>
              </a:p>
              <a:p>
                <a:pPr marL="0" indent="0">
                  <a:buNone/>
                </a:pPr>
                <a:endParaRPr lang="it-IT" sz="2200" b="0" dirty="0"/>
              </a:p>
              <a:p>
                <a:pPr marL="0" indent="0">
                  <a:buNone/>
                </a:pPr>
                <a:endParaRPr lang="en-GB" b="1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52623E65-2EF4-8CE0-82F9-C6AB6587A5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539" y="856527"/>
                <a:ext cx="11516810" cy="5567422"/>
              </a:xfrm>
              <a:blipFill>
                <a:blip r:embed="rId2"/>
                <a:stretch>
                  <a:fillRect l="-882" t="-15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magine 3">
            <a:extLst>
              <a:ext uri="{FF2B5EF4-FFF2-40B4-BE49-F238E27FC236}">
                <a16:creationId xmlns:a16="http://schemas.microsoft.com/office/drawing/2014/main" id="{27AE48F7-510C-947E-ECDC-5EF0AC6A1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035" y="3748582"/>
            <a:ext cx="9729818" cy="2675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914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7B9D22AE-1584-4730-1288-E36821B2A8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90309"/>
                <a:ext cx="10515600" cy="558665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In the chosen range of a position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</m:oMath>
                </a14:m>
                <a:r>
                  <a:rPr lang="it-IT" b="0" dirty="0"/>
                  <a:t> the </a:t>
                </a:r>
                <a:r>
                  <a:rPr lang="it-IT" b="0" dirty="0" err="1"/>
                  <a:t>reserves</a:t>
                </a:r>
                <a:r>
                  <a:rPr lang="it-IT" b="0" dirty="0"/>
                  <a:t> follow a new curve:                                              </a:t>
                </a:r>
              </a:p>
              <a:p>
                <a:pPr marL="0" indent="0">
                  <a:buNone/>
                </a:pPr>
                <a:r>
                  <a:rPr lang="it-IT" b="0" dirty="0"/>
                  <a:t>                                                                                             </a:t>
                </a:r>
                <a:r>
                  <a:rPr lang="it-IT" sz="1800" b="0" dirty="0" err="1"/>
                  <a:t>where</a:t>
                </a:r>
                <a:r>
                  <a:rPr lang="it-IT" sz="1800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it-IT" sz="1800" b="0" i="1" smtClean="0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it-IT" sz="1800" b="0" dirty="0"/>
                  <a:t>.</a:t>
                </a:r>
              </a:p>
              <a:p>
                <a:pPr marL="0" indent="0">
                  <a:buNone/>
                </a:pPr>
                <a:r>
                  <a:rPr lang="it-IT" b="0" dirty="0"/>
                  <a:t> </a:t>
                </a:r>
              </a:p>
              <a:p>
                <a:pPr marL="0" indent="0">
                  <a:buNone/>
                </a:pPr>
                <a:endParaRPr lang="it-IT" b="0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7B9D22AE-1584-4730-1288-E36821B2A8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90309"/>
                <a:ext cx="10515600" cy="5586654"/>
              </a:xfrm>
              <a:blipFill>
                <a:blip r:embed="rId2"/>
                <a:stretch>
                  <a:fillRect l="-1206" t="-18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magine 3">
            <a:extLst>
              <a:ext uri="{FF2B5EF4-FFF2-40B4-BE49-F238E27FC236}">
                <a16:creationId xmlns:a16="http://schemas.microsoft.com/office/drawing/2014/main" id="{C5A07411-AEF2-17D3-97E9-ED01B2CF3F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493" y="1228553"/>
            <a:ext cx="3061014" cy="769949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BBB1413E-4831-C1CB-BBD8-8C0D1E2542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519282"/>
            <a:ext cx="4102100" cy="3136900"/>
          </a:xfrm>
          <a:prstGeom prst="rect">
            <a:avLst/>
          </a:prstGeom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86044F36-8A2C-CE2C-9B4F-0A9A292864C2}"/>
              </a:ext>
            </a:extLst>
          </p:cNvPr>
          <p:cNvSpPr/>
          <p:nvPr/>
        </p:nvSpPr>
        <p:spPr>
          <a:xfrm>
            <a:off x="4143736" y="2766348"/>
            <a:ext cx="324092" cy="3819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CFAAD6AD-C32D-6201-D2E3-01FBA15EE7A6}"/>
              </a:ext>
            </a:extLst>
          </p:cNvPr>
          <p:cNvSpPr/>
          <p:nvPr/>
        </p:nvSpPr>
        <p:spPr>
          <a:xfrm>
            <a:off x="4097437" y="2986268"/>
            <a:ext cx="416690" cy="1620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41CBDCD-376C-D990-B428-CD58DF35A8EC}"/>
              </a:ext>
            </a:extLst>
          </p:cNvPr>
          <p:cNvSpPr txBox="1"/>
          <p:nvPr/>
        </p:nvSpPr>
        <p:spPr>
          <a:xfrm>
            <a:off x="5451676" y="2408557"/>
            <a:ext cx="613458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Differently from v2 It is possible to exhaust a reserve, which then becomes inactive (the position of the LP no longer receives trading commission)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The slippage is reduced, since the virtual reserve is more liquid in the range than it would have been in V2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2000" dirty="0"/>
              <a:t>To </a:t>
            </a:r>
            <a:r>
              <a:rPr lang="it-IT" sz="2000" dirty="0" err="1"/>
              <a:t>implement</a:t>
            </a:r>
            <a:r>
              <a:rPr lang="it-IT" sz="2000" dirty="0"/>
              <a:t> custom </a:t>
            </a:r>
            <a:r>
              <a:rPr lang="it-IT" sz="2000" dirty="0" err="1"/>
              <a:t>liquidity</a:t>
            </a:r>
            <a:r>
              <a:rPr lang="it-IT" sz="2000" dirty="0"/>
              <a:t> </a:t>
            </a:r>
            <a:r>
              <a:rPr lang="it-IT" sz="2000" dirty="0" err="1"/>
              <a:t>provision</a:t>
            </a:r>
            <a:r>
              <a:rPr lang="it-IT" sz="2000" dirty="0"/>
              <a:t>, the </a:t>
            </a:r>
            <a:r>
              <a:rPr lang="it-IT" sz="2000" dirty="0" err="1"/>
              <a:t>space</a:t>
            </a:r>
            <a:r>
              <a:rPr lang="it-IT" sz="2000" dirty="0"/>
              <a:t> of </a:t>
            </a:r>
            <a:r>
              <a:rPr lang="it-IT" sz="2000" dirty="0" err="1"/>
              <a:t>possible</a:t>
            </a:r>
            <a:r>
              <a:rPr lang="it-IT" sz="2000" dirty="0"/>
              <a:t> prices </a:t>
            </a:r>
            <a:r>
              <a:rPr lang="it-IT" sz="2000" dirty="0" err="1"/>
              <a:t>is</a:t>
            </a:r>
            <a:r>
              <a:rPr lang="it-IT" sz="2000" dirty="0"/>
              <a:t> </a:t>
            </a:r>
            <a:r>
              <a:rPr lang="it-IT" sz="2000" dirty="0" err="1"/>
              <a:t>demarcated</a:t>
            </a:r>
            <a:r>
              <a:rPr lang="it-IT" sz="2000" dirty="0"/>
              <a:t> by discrete </a:t>
            </a:r>
            <a:r>
              <a:rPr lang="it-IT" sz="2000" dirty="0" err="1"/>
              <a:t>ticks</a:t>
            </a:r>
            <a:r>
              <a:rPr lang="it-IT" sz="2000" dirty="0"/>
              <a:t>. </a:t>
            </a:r>
            <a:r>
              <a:rPr lang="it-IT" sz="2000" dirty="0" err="1"/>
              <a:t>Ticks</a:t>
            </a:r>
            <a:r>
              <a:rPr lang="it-IT" sz="2000" dirty="0"/>
              <a:t> </a:t>
            </a:r>
            <a:r>
              <a:rPr lang="it-IT" sz="2000" dirty="0" err="1"/>
              <a:t>represent</a:t>
            </a:r>
            <a:r>
              <a:rPr lang="it-IT" sz="2000" dirty="0"/>
              <a:t> prices </a:t>
            </a:r>
            <a:r>
              <a:rPr lang="it-IT" sz="2000" dirty="0" err="1"/>
              <a:t>at</a:t>
            </a:r>
            <a:r>
              <a:rPr lang="it-IT" sz="2000" dirty="0"/>
              <a:t> </a:t>
            </a:r>
            <a:r>
              <a:rPr lang="it-IT" sz="2000" dirty="0" err="1"/>
              <a:t>which</a:t>
            </a:r>
            <a:r>
              <a:rPr lang="it-IT" sz="2000" dirty="0"/>
              <a:t> the </a:t>
            </a:r>
            <a:r>
              <a:rPr lang="it-IT" sz="2000" dirty="0" err="1"/>
              <a:t>virtual</a:t>
            </a:r>
            <a:r>
              <a:rPr lang="it-IT" sz="2000" dirty="0"/>
              <a:t> </a:t>
            </a:r>
            <a:r>
              <a:rPr lang="it-IT" sz="2000" dirty="0" err="1"/>
              <a:t>liquidity</a:t>
            </a:r>
            <a:r>
              <a:rPr lang="it-IT" sz="2000" dirty="0"/>
              <a:t> of the </a:t>
            </a:r>
            <a:r>
              <a:rPr lang="it-IT" sz="2000" dirty="0" err="1"/>
              <a:t>contract</a:t>
            </a:r>
            <a:r>
              <a:rPr lang="it-IT" sz="2000" dirty="0"/>
              <a:t> can </a:t>
            </a:r>
            <a:r>
              <a:rPr lang="it-IT" sz="2000" dirty="0" err="1"/>
              <a:t>change</a:t>
            </a:r>
            <a:endParaRPr lang="en-GB" sz="2000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6118277A-549C-AB7A-7D8F-5AD260626B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6507" y="5655559"/>
            <a:ext cx="16129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6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D17C72-CE97-4422-CEFC-2B13A84C1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Optimal Splitting Problem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6DB230C-6F8E-6491-746A-E7E503C88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858"/>
            <a:ext cx="10515600" cy="4649105"/>
          </a:xfrm>
        </p:spPr>
        <p:txBody>
          <a:bodyPr/>
          <a:lstStyle/>
          <a:p>
            <a:pPr marL="0" indent="0">
              <a:buNone/>
            </a:pPr>
            <a:r>
              <a:rPr lang="it-IT" sz="2000" dirty="0"/>
              <a:t>The low costs of </a:t>
            </a:r>
            <a:r>
              <a:rPr lang="it-IT" sz="2000" dirty="0" err="1"/>
              <a:t>reproducing</a:t>
            </a:r>
            <a:r>
              <a:rPr lang="it-IT" sz="2000" dirty="0"/>
              <a:t> </a:t>
            </a:r>
            <a:r>
              <a:rPr lang="it-IT" sz="2000" dirty="0" err="1"/>
              <a:t>DeFi</a:t>
            </a:r>
            <a:r>
              <a:rPr lang="it-IT" sz="2000" dirty="0"/>
              <a:t> </a:t>
            </a:r>
            <a:r>
              <a:rPr lang="it-IT" sz="2000" dirty="0" err="1"/>
              <a:t>protocols</a:t>
            </a:r>
            <a:r>
              <a:rPr lang="it-IT" sz="2000" dirty="0"/>
              <a:t> </a:t>
            </a:r>
            <a:r>
              <a:rPr lang="it-IT" sz="2000" dirty="0" err="1"/>
              <a:t>has</a:t>
            </a:r>
            <a:r>
              <a:rPr lang="it-IT" sz="2000" dirty="0"/>
              <a:t> led to a </a:t>
            </a:r>
            <a:r>
              <a:rPr lang="it-IT" sz="2000" dirty="0" err="1"/>
              <a:t>proliferation</a:t>
            </a:r>
            <a:r>
              <a:rPr lang="it-IT" sz="2000" dirty="0"/>
              <a:t> of </a:t>
            </a:r>
            <a:r>
              <a:rPr lang="it-IT" sz="2000" dirty="0" err="1"/>
              <a:t>clones</a:t>
            </a:r>
            <a:r>
              <a:rPr lang="it-IT" sz="2000" dirty="0"/>
              <a:t> and </a:t>
            </a:r>
            <a:r>
              <a:rPr lang="it-IT" sz="2000" dirty="0" err="1"/>
              <a:t>variants</a:t>
            </a:r>
            <a:r>
              <a:rPr lang="it-IT" sz="2000" dirty="0"/>
              <a:t> of </a:t>
            </a:r>
            <a:r>
              <a:rPr lang="it-IT" sz="2000" dirty="0" err="1"/>
              <a:t>Uniswap</a:t>
            </a:r>
            <a:r>
              <a:rPr lang="it-IT" sz="2000" dirty="0"/>
              <a:t> v2 and v3, </a:t>
            </a:r>
            <a:r>
              <a:rPr lang="it-IT" sz="2000" dirty="0" err="1"/>
              <a:t>all</a:t>
            </a:r>
            <a:r>
              <a:rPr lang="it-IT" sz="2000" dirty="0"/>
              <a:t> </a:t>
            </a:r>
            <a:r>
              <a:rPr lang="it-IT" sz="2000" dirty="0" err="1"/>
              <a:t>competing</a:t>
            </a:r>
            <a:r>
              <a:rPr lang="it-IT" sz="2000" dirty="0"/>
              <a:t> for the </a:t>
            </a:r>
            <a:r>
              <a:rPr lang="it-IT" sz="2000" dirty="0" err="1"/>
              <a:t>same</a:t>
            </a:r>
            <a:r>
              <a:rPr lang="it-IT" sz="2000" dirty="0"/>
              <a:t> </a:t>
            </a:r>
            <a:r>
              <a:rPr lang="it-IT" sz="2000" dirty="0" err="1"/>
              <a:t>liquidity</a:t>
            </a:r>
            <a:r>
              <a:rPr lang="it-IT" sz="2000" dirty="0"/>
              <a:t>. </a:t>
            </a:r>
          </a:p>
          <a:p>
            <a:pPr marL="0" indent="0">
              <a:buNone/>
            </a:pPr>
            <a:r>
              <a:rPr lang="it-IT" sz="2000" dirty="0"/>
              <a:t>                          </a:t>
            </a:r>
            <a:r>
              <a:rPr lang="it-IT" sz="2000" i="1" u="sng" dirty="0" err="1"/>
              <a:t>aggregators</a:t>
            </a:r>
            <a:r>
              <a:rPr lang="it-IT" sz="2000" i="1" u="sng" dirty="0"/>
              <a:t> </a:t>
            </a:r>
            <a:r>
              <a:rPr lang="it-IT" sz="2000" dirty="0"/>
              <a:t> </a:t>
            </a:r>
            <a:r>
              <a:rPr lang="it-IT" sz="2000" dirty="0" err="1"/>
              <a:t>which</a:t>
            </a:r>
            <a:r>
              <a:rPr lang="it-IT" sz="2000" dirty="0"/>
              <a:t> </a:t>
            </a:r>
            <a:r>
              <a:rPr lang="it-IT" sz="2000" dirty="0" err="1"/>
              <a:t>aim</a:t>
            </a:r>
            <a:r>
              <a:rPr lang="it-IT" sz="2000" dirty="0"/>
              <a:t> to consolidate the multiple </a:t>
            </a:r>
            <a:r>
              <a:rPr lang="it-IT" sz="2000" dirty="0" err="1"/>
              <a:t>oﬀerings</a:t>
            </a:r>
            <a:r>
              <a:rPr lang="it-IT" sz="2000" dirty="0"/>
              <a:t> </a:t>
            </a:r>
            <a:r>
              <a:rPr lang="it-IT" sz="2000" dirty="0" err="1"/>
              <a:t>that</a:t>
            </a:r>
            <a:r>
              <a:rPr lang="it-IT" sz="2000" dirty="0"/>
              <a:t> </a:t>
            </a:r>
            <a:r>
              <a:rPr lang="it-IT" sz="2000" dirty="0" err="1"/>
              <a:t>takers</a:t>
            </a:r>
            <a:r>
              <a:rPr lang="it-IT" sz="2000" dirty="0"/>
              <a:t> face,                                                                       	         </a:t>
            </a:r>
            <a:r>
              <a:rPr lang="it-IT" sz="2000" dirty="0" err="1"/>
              <a:t>relieve</a:t>
            </a:r>
            <a:r>
              <a:rPr lang="it-IT" sz="2000" dirty="0"/>
              <a:t> </a:t>
            </a:r>
            <a:r>
              <a:rPr lang="it-IT" sz="2000" dirty="0" err="1"/>
              <a:t>them</a:t>
            </a:r>
            <a:r>
              <a:rPr lang="it-IT" sz="2000" dirty="0"/>
              <a:t> of time-</a:t>
            </a:r>
            <a:r>
              <a:rPr lang="it-IT" sz="2000" dirty="0" err="1"/>
              <a:t>consuming</a:t>
            </a:r>
            <a:r>
              <a:rPr lang="it-IT" sz="2000" dirty="0"/>
              <a:t> </a:t>
            </a:r>
            <a:r>
              <a:rPr lang="it-IT" sz="2000" dirty="0" err="1"/>
              <a:t>searches</a:t>
            </a:r>
            <a:r>
              <a:rPr lang="it-IT" sz="2000" dirty="0"/>
              <a:t>, and </a:t>
            </a:r>
            <a:r>
              <a:rPr lang="it-IT" sz="2000" dirty="0" err="1"/>
              <a:t>optimise</a:t>
            </a:r>
            <a:r>
              <a:rPr lang="it-IT" sz="2000" dirty="0"/>
              <a:t> the </a:t>
            </a:r>
            <a:r>
              <a:rPr lang="it-IT" sz="2000" dirty="0" err="1"/>
              <a:t>execution</a:t>
            </a:r>
            <a:r>
              <a:rPr lang="it-IT" sz="2000" dirty="0"/>
              <a:t> of </a:t>
            </a:r>
            <a:r>
              <a:rPr lang="it-IT" sz="2000" dirty="0" err="1"/>
              <a:t>their</a:t>
            </a:r>
            <a:r>
              <a:rPr lang="it-IT" sz="2000" dirty="0"/>
              <a:t>  		         market </a:t>
            </a:r>
            <a:r>
              <a:rPr lang="it-IT" sz="2000" dirty="0" err="1"/>
              <a:t>orders</a:t>
            </a:r>
            <a:r>
              <a:rPr lang="it-IT" sz="2000" dirty="0"/>
              <a:t>.</a:t>
            </a:r>
          </a:p>
          <a:p>
            <a:pPr marL="0" indent="0">
              <a:buNone/>
            </a:pPr>
            <a:endParaRPr lang="it-IT" sz="2000" dirty="0"/>
          </a:p>
          <a:p>
            <a:pPr marL="0" indent="0">
              <a:buNone/>
            </a:pPr>
            <a:r>
              <a:rPr lang="it-IT" sz="2400" dirty="0"/>
              <a:t>          </a:t>
            </a:r>
          </a:p>
          <a:p>
            <a:endParaRPr lang="en-GB" dirty="0"/>
          </a:p>
        </p:txBody>
      </p:sp>
      <p:sp>
        <p:nvSpPr>
          <p:cNvPr id="4" name="Freccia destra 3">
            <a:extLst>
              <a:ext uri="{FF2B5EF4-FFF2-40B4-BE49-F238E27FC236}">
                <a16:creationId xmlns:a16="http://schemas.microsoft.com/office/drawing/2014/main" id="{C5AD3EF2-26F8-2E60-D05A-E45F62EF8CA2}"/>
              </a:ext>
            </a:extLst>
          </p:cNvPr>
          <p:cNvSpPr/>
          <p:nvPr/>
        </p:nvSpPr>
        <p:spPr>
          <a:xfrm>
            <a:off x="1088020" y="2476983"/>
            <a:ext cx="856527" cy="2314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54EFA50-5496-4829-D063-E1F580DA993D}"/>
              </a:ext>
            </a:extLst>
          </p:cNvPr>
          <p:cNvSpPr txBox="1"/>
          <p:nvPr/>
        </p:nvSpPr>
        <p:spPr>
          <a:xfrm>
            <a:off x="6203065" y="3429000"/>
            <a:ext cx="53127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Problem</a:t>
            </a:r>
            <a:r>
              <a:rPr lang="it-IT" b="1" dirty="0"/>
              <a:t>: </a:t>
            </a:r>
            <a:r>
              <a:rPr lang="it-IT" dirty="0" err="1"/>
              <a:t>computationally</a:t>
            </a:r>
            <a:r>
              <a:rPr lang="it-IT" dirty="0"/>
              <a:t> </a:t>
            </a:r>
            <a:r>
              <a:rPr lang="it-IT" dirty="0" err="1"/>
              <a:t>expensive</a:t>
            </a:r>
            <a:r>
              <a:rPr lang="it-IT" dirty="0"/>
              <a:t>                          	  </a:t>
            </a:r>
            <a:r>
              <a:rPr lang="it-IT" dirty="0" err="1"/>
              <a:t>aggregators</a:t>
            </a:r>
            <a:r>
              <a:rPr lang="it-IT" dirty="0"/>
              <a:t> work </a:t>
            </a:r>
            <a:r>
              <a:rPr lang="it-IT" i="1" dirty="0"/>
              <a:t>off-chain</a:t>
            </a:r>
          </a:p>
          <a:p>
            <a:endParaRPr lang="it-IT" i="1" dirty="0"/>
          </a:p>
          <a:p>
            <a:r>
              <a:rPr lang="it-IT" b="1" i="1" dirty="0"/>
              <a:t>                       </a:t>
            </a:r>
            <a:r>
              <a:rPr lang="it-IT" i="1" u="sng" dirty="0" err="1"/>
              <a:t>temporal</a:t>
            </a:r>
            <a:r>
              <a:rPr lang="it-IT" i="1" u="sng" dirty="0"/>
              <a:t> </a:t>
            </a:r>
            <a:r>
              <a:rPr lang="it-IT" i="1" u="sng" dirty="0" err="1"/>
              <a:t>slippage</a:t>
            </a:r>
            <a:r>
              <a:rPr lang="it-IT" dirty="0"/>
              <a:t>: </a:t>
            </a:r>
            <a:r>
              <a:rPr lang="it-IT" dirty="0" err="1"/>
              <a:t>discrepancy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	   the plan and the </a:t>
            </a:r>
            <a:r>
              <a:rPr lang="it-IT" dirty="0" err="1"/>
              <a:t>actual</a:t>
            </a:r>
            <a:r>
              <a:rPr lang="it-IT" dirty="0"/>
              <a:t> on-chain 	  	    </a:t>
            </a:r>
            <a:r>
              <a:rPr lang="it-IT" dirty="0" err="1"/>
              <a:t>execution</a:t>
            </a:r>
            <a:endParaRPr lang="it-IT" b="1" u="sng" dirty="0"/>
          </a:p>
          <a:p>
            <a:endParaRPr lang="en-GB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08562C72-B604-E712-880C-A56F2B38E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245" y="3662986"/>
            <a:ext cx="4593489" cy="2751760"/>
          </a:xfrm>
          <a:prstGeom prst="rect">
            <a:avLst/>
          </a:prstGeom>
        </p:spPr>
      </p:pic>
      <p:sp>
        <p:nvSpPr>
          <p:cNvPr id="9" name="Freccia destra 8">
            <a:extLst>
              <a:ext uri="{FF2B5EF4-FFF2-40B4-BE49-F238E27FC236}">
                <a16:creationId xmlns:a16="http://schemas.microsoft.com/office/drawing/2014/main" id="{A99ACBBC-3928-5A9D-BDDE-7D5F2663FF9C}"/>
              </a:ext>
            </a:extLst>
          </p:cNvPr>
          <p:cNvSpPr/>
          <p:nvPr/>
        </p:nvSpPr>
        <p:spPr>
          <a:xfrm>
            <a:off x="6447099" y="4386805"/>
            <a:ext cx="810228" cy="1736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ccia destra 9">
            <a:extLst>
              <a:ext uri="{FF2B5EF4-FFF2-40B4-BE49-F238E27FC236}">
                <a16:creationId xmlns:a16="http://schemas.microsoft.com/office/drawing/2014/main" id="{353F2CB0-8903-6D99-011C-D75EE77ADFC7}"/>
              </a:ext>
            </a:extLst>
          </p:cNvPr>
          <p:cNvSpPr/>
          <p:nvPr/>
        </p:nvSpPr>
        <p:spPr>
          <a:xfrm>
            <a:off x="6447099" y="3865944"/>
            <a:ext cx="810228" cy="1504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0CD7ACA-725B-8309-DDEC-4CD89BF777EA}"/>
              </a:ext>
            </a:extLst>
          </p:cNvPr>
          <p:cNvSpPr txBox="1"/>
          <p:nvPr/>
        </p:nvSpPr>
        <p:spPr>
          <a:xfrm>
            <a:off x="5703291" y="5622965"/>
            <a:ext cx="568702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i="1" dirty="0"/>
              <a:t>Figure 1: An </a:t>
            </a:r>
            <a:r>
              <a:rPr lang="it-IT" sz="1200" i="1" dirty="0" err="1"/>
              <a:t>execution</a:t>
            </a:r>
            <a:r>
              <a:rPr lang="it-IT" sz="1200" i="1" dirty="0"/>
              <a:t> plan </a:t>
            </a:r>
            <a:r>
              <a:rPr lang="it-IT" sz="1200" i="1" dirty="0" err="1"/>
              <a:t>computed</a:t>
            </a:r>
            <a:r>
              <a:rPr lang="it-IT" sz="1200" i="1" dirty="0"/>
              <a:t> by the Odos </a:t>
            </a:r>
            <a:r>
              <a:rPr lang="it-IT" sz="1200" i="1" dirty="0" err="1"/>
              <a:t>routing</a:t>
            </a:r>
            <a:r>
              <a:rPr lang="it-IT" sz="1200" i="1" dirty="0"/>
              <a:t> </a:t>
            </a:r>
            <a:r>
              <a:rPr lang="it-IT" sz="1200" i="1" dirty="0" err="1"/>
              <a:t>algorithm</a:t>
            </a:r>
            <a:r>
              <a:rPr lang="it-IT" sz="1200" i="1" dirty="0"/>
              <a:t> for an ETH-to-USDC swap of 10 ETH on </a:t>
            </a:r>
            <a:r>
              <a:rPr lang="it-IT" sz="1200" i="1" dirty="0" err="1"/>
              <a:t>Arbitrum</a:t>
            </a:r>
            <a:r>
              <a:rPr lang="it-IT" sz="1200" i="1" dirty="0"/>
              <a:t> (October 2024). One </a:t>
            </a:r>
            <a:r>
              <a:rPr lang="it-IT" sz="1200" i="1" dirty="0" err="1"/>
              <a:t>sees</a:t>
            </a:r>
            <a:r>
              <a:rPr lang="it-IT" sz="1200" i="1" dirty="0"/>
              <a:t> </a:t>
            </a:r>
            <a:r>
              <a:rPr lang="it-IT" sz="1200" i="1" dirty="0" err="1"/>
              <a:t>that</a:t>
            </a:r>
            <a:r>
              <a:rPr lang="it-IT" sz="1200" i="1" dirty="0"/>
              <a:t> the Odos </a:t>
            </a:r>
            <a:r>
              <a:rPr lang="it-IT" sz="1200" i="1" dirty="0" err="1"/>
              <a:t>aggregator</a:t>
            </a:r>
            <a:r>
              <a:rPr lang="it-IT" sz="1200" i="1" dirty="0"/>
              <a:t> </a:t>
            </a:r>
            <a:r>
              <a:rPr lang="it-IT" sz="1200" i="1" dirty="0" err="1"/>
              <a:t>computes</a:t>
            </a:r>
            <a:r>
              <a:rPr lang="it-IT" sz="1200" i="1" dirty="0"/>
              <a:t> a plan </a:t>
            </a:r>
            <a:r>
              <a:rPr lang="it-IT" sz="1200" i="1" dirty="0" err="1"/>
              <a:t>which</a:t>
            </a:r>
            <a:r>
              <a:rPr lang="it-IT" sz="1200" i="1" dirty="0"/>
              <a:t> </a:t>
            </a:r>
            <a:r>
              <a:rPr lang="it-IT" sz="1200" i="1" dirty="0" err="1"/>
              <a:t>includes</a:t>
            </a:r>
            <a:r>
              <a:rPr lang="it-IT" sz="1200" i="1" dirty="0"/>
              <a:t> </a:t>
            </a:r>
            <a:r>
              <a:rPr lang="it-IT" sz="1200" i="1" dirty="0" err="1"/>
              <a:t>several</a:t>
            </a:r>
            <a:r>
              <a:rPr lang="it-IT" sz="1200" i="1" dirty="0"/>
              <a:t> </a:t>
            </a:r>
            <a:r>
              <a:rPr lang="it-IT" sz="1200" i="1" dirty="0" err="1"/>
              <a:t>splits</a:t>
            </a:r>
            <a:r>
              <a:rPr lang="it-IT" sz="1200" i="1" dirty="0"/>
              <a:t> </a:t>
            </a:r>
            <a:r>
              <a:rPr lang="it-IT" sz="1200" i="1" dirty="0" err="1"/>
              <a:t>between</a:t>
            </a:r>
            <a:r>
              <a:rPr lang="it-IT" sz="1200" i="1" dirty="0"/>
              <a:t> </a:t>
            </a:r>
            <a:r>
              <a:rPr lang="it-IT" sz="1200" i="1" dirty="0" err="1"/>
              <a:t>Uniswap</a:t>
            </a:r>
            <a:r>
              <a:rPr lang="it-IT" sz="1200" i="1" dirty="0"/>
              <a:t> v3 </a:t>
            </a:r>
            <a:r>
              <a:rPr lang="it-IT" sz="1200" i="1" dirty="0" err="1"/>
              <a:t>clones</a:t>
            </a:r>
            <a:r>
              <a:rPr lang="it-IT" sz="1200" i="1" dirty="0"/>
              <a:t>.</a:t>
            </a:r>
          </a:p>
          <a:p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2473808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E9B128C-F40B-A686-0084-C635DF466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6689"/>
            <a:ext cx="10515600" cy="5760274"/>
          </a:xfrm>
        </p:spPr>
        <p:txBody>
          <a:bodyPr>
            <a:normAutofit/>
          </a:bodyPr>
          <a:lstStyle/>
          <a:p>
            <a:r>
              <a:rPr lang="en-GB" b="1" dirty="0"/>
              <a:t>Idea:</a:t>
            </a:r>
            <a:r>
              <a:rPr lang="en-GB" dirty="0"/>
              <a:t> aggregation should be executed and planned on-chain. </a:t>
            </a:r>
            <a:r>
              <a:rPr lang="it-IT" dirty="0" err="1"/>
              <a:t>There</a:t>
            </a:r>
            <a:r>
              <a:rPr lang="it-IT" dirty="0"/>
              <a:t> </a:t>
            </a:r>
            <a:r>
              <a:rPr lang="it-IT" dirty="0" err="1"/>
              <a:t>would</a:t>
            </a:r>
            <a:r>
              <a:rPr lang="it-IT" dirty="0"/>
              <a:t> be no </a:t>
            </a:r>
            <a:r>
              <a:rPr lang="it-IT" dirty="0" err="1"/>
              <a:t>latency</a:t>
            </a:r>
            <a:r>
              <a:rPr lang="it-IT" dirty="0"/>
              <a:t>, no </a:t>
            </a:r>
            <a:r>
              <a:rPr lang="it-IT" dirty="0" err="1"/>
              <a:t>induced</a:t>
            </a:r>
            <a:r>
              <a:rPr lang="it-IT" dirty="0"/>
              <a:t> </a:t>
            </a:r>
            <a:r>
              <a:rPr lang="it-IT" dirty="0" err="1"/>
              <a:t>slippage</a:t>
            </a:r>
            <a:r>
              <a:rPr lang="it-IT" dirty="0"/>
              <a:t>, so no </a:t>
            </a:r>
            <a:r>
              <a:rPr lang="it-IT" dirty="0" err="1"/>
              <a:t>loss</a:t>
            </a:r>
            <a:r>
              <a:rPr lang="it-IT" dirty="0"/>
              <a:t> of </a:t>
            </a:r>
            <a:r>
              <a:rPr lang="it-IT" dirty="0" err="1"/>
              <a:t>value</a:t>
            </a:r>
            <a:r>
              <a:rPr lang="it-IT" dirty="0"/>
              <a:t> to the </a:t>
            </a:r>
            <a:r>
              <a:rPr lang="it-IT" dirty="0" err="1"/>
              <a:t>intermediary</a:t>
            </a:r>
            <a:r>
              <a:rPr lang="it-IT" dirty="0"/>
              <a:t> (and complete </a:t>
            </a:r>
            <a:r>
              <a:rPr lang="it-IT" dirty="0" err="1"/>
              <a:t>transparency</a:t>
            </a:r>
            <a:r>
              <a:rPr lang="it-IT" dirty="0"/>
              <a:t>)</a:t>
            </a:r>
          </a:p>
          <a:p>
            <a:pPr marL="0" indent="0">
              <a:buNone/>
            </a:pPr>
            <a:endParaRPr lang="it-IT" dirty="0"/>
          </a:p>
          <a:p>
            <a:r>
              <a:rPr lang="it-IT" b="1" dirty="0"/>
              <a:t>Work of the paper:</a:t>
            </a:r>
            <a:r>
              <a:rPr lang="it-IT" dirty="0"/>
              <a:t> propose a </a:t>
            </a:r>
            <a:r>
              <a:rPr lang="it-IT" dirty="0" err="1"/>
              <a:t>simple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 </a:t>
            </a:r>
            <a:r>
              <a:rPr lang="it-IT" dirty="0" err="1"/>
              <a:t>algorithm</a:t>
            </a:r>
            <a:r>
              <a:rPr lang="it-IT" dirty="0"/>
              <a:t>  for on chain </a:t>
            </a:r>
            <a:r>
              <a:rPr lang="it-IT" dirty="0" err="1"/>
              <a:t>implementation</a:t>
            </a:r>
            <a:r>
              <a:rPr lang="it-IT" dirty="0"/>
              <a:t>. The </a:t>
            </a:r>
            <a:r>
              <a:rPr lang="it-IT" dirty="0" err="1"/>
              <a:t>algorithm</a:t>
            </a:r>
            <a:r>
              <a:rPr lang="it-IT" dirty="0"/>
              <a:t> </a:t>
            </a:r>
            <a:r>
              <a:rPr lang="it-IT" dirty="0" err="1"/>
              <a:t>concerns</a:t>
            </a:r>
            <a:r>
              <a:rPr lang="it-IT" dirty="0"/>
              <a:t> optima splitting </a:t>
            </a:r>
            <a:r>
              <a:rPr lang="it-IT" dirty="0" err="1"/>
              <a:t>among</a:t>
            </a:r>
            <a:r>
              <a:rPr lang="it-IT" dirty="0"/>
              <a:t> </a:t>
            </a:r>
            <a:r>
              <a:rPr lang="it-IT" i="1" u="sng" dirty="0"/>
              <a:t>price </a:t>
            </a:r>
            <a:r>
              <a:rPr lang="it-IT" i="1" u="sng" dirty="0" err="1"/>
              <a:t>parametrised</a:t>
            </a:r>
            <a:r>
              <a:rPr lang="it-IT" i="1" u="sng" dirty="0"/>
              <a:t> </a:t>
            </a:r>
            <a:r>
              <a:rPr lang="it-IT" i="1" u="sng" dirty="0" err="1"/>
              <a:t>AMMs</a:t>
            </a:r>
            <a:r>
              <a:rPr lang="it-IT" i="1" u="sng" dirty="0"/>
              <a:t> </a:t>
            </a:r>
            <a:r>
              <a:rPr lang="it-IT" dirty="0"/>
              <a:t>(</a:t>
            </a:r>
            <a:r>
              <a:rPr lang="it-IT" dirty="0" err="1"/>
              <a:t>PPMs</a:t>
            </a:r>
            <a:r>
              <a:rPr lang="it-IT" dirty="0"/>
              <a:t>) on the </a:t>
            </a:r>
            <a:r>
              <a:rPr lang="it-IT" dirty="0" err="1"/>
              <a:t>same</a:t>
            </a:r>
            <a:r>
              <a:rPr lang="it-IT" dirty="0"/>
              <a:t> </a:t>
            </a:r>
            <a:r>
              <a:rPr lang="it-IT" dirty="0" err="1"/>
              <a:t>pair</a:t>
            </a:r>
            <a:r>
              <a:rPr lang="it-IT" dirty="0"/>
              <a:t> x/y</a:t>
            </a:r>
          </a:p>
          <a:p>
            <a:endParaRPr lang="it-IT" dirty="0"/>
          </a:p>
          <a:p>
            <a:r>
              <a:rPr lang="it-IT" b="1" dirty="0" err="1"/>
              <a:t>Aim</a:t>
            </a:r>
            <a:r>
              <a:rPr lang="it-IT" b="1" dirty="0"/>
              <a:t>: </a:t>
            </a:r>
            <a:r>
              <a:rPr lang="it-IT" dirty="0" err="1"/>
              <a:t>We</a:t>
            </a:r>
            <a:r>
              <a:rPr lang="it-IT" dirty="0"/>
              <a:t> are </a:t>
            </a:r>
            <a:r>
              <a:rPr lang="it-IT" dirty="0" err="1"/>
              <a:t>given</a:t>
            </a:r>
            <a:r>
              <a:rPr lang="it-IT" dirty="0"/>
              <a:t> a finite family of </a:t>
            </a:r>
            <a:r>
              <a:rPr lang="it-IT" dirty="0" err="1"/>
              <a:t>AMMs</a:t>
            </a:r>
            <a:r>
              <a:rPr lang="it-IT" dirty="0"/>
              <a:t> </a:t>
            </a:r>
            <a:r>
              <a:rPr lang="it-IT" dirty="0" err="1"/>
              <a:t>defined</a:t>
            </a:r>
            <a:r>
              <a:rPr lang="it-IT" dirty="0"/>
              <a:t> on the </a:t>
            </a:r>
            <a:r>
              <a:rPr lang="it-IT" dirty="0" err="1"/>
              <a:t>same</a:t>
            </a:r>
            <a:r>
              <a:rPr lang="it-IT" dirty="0"/>
              <a:t> </a:t>
            </a:r>
            <a:r>
              <a:rPr lang="it-IT" dirty="0" err="1"/>
              <a:t>pair</a:t>
            </a:r>
            <a:r>
              <a:rPr lang="it-IT" dirty="0"/>
              <a:t> X/Y, and a market </a:t>
            </a:r>
            <a:r>
              <a:rPr lang="it-IT" dirty="0" err="1"/>
              <a:t>order</a:t>
            </a:r>
            <a:r>
              <a:rPr lang="it-IT" dirty="0"/>
              <a:t> (</a:t>
            </a:r>
            <a:r>
              <a:rPr lang="it-IT" dirty="0" err="1"/>
              <a:t>say</a:t>
            </a:r>
            <a:r>
              <a:rPr lang="it-IT" dirty="0"/>
              <a:t> </a:t>
            </a:r>
            <a:r>
              <a:rPr lang="it-IT" dirty="0" err="1"/>
              <a:t>taker</a:t>
            </a:r>
            <a:r>
              <a:rPr lang="it-IT" dirty="0"/>
              <a:t> </a:t>
            </a:r>
            <a:r>
              <a:rPr lang="it-IT" dirty="0" err="1"/>
              <a:t>wants</a:t>
            </a:r>
            <a:r>
              <a:rPr lang="it-IT" dirty="0"/>
              <a:t> to </a:t>
            </a:r>
            <a:r>
              <a:rPr lang="it-IT" dirty="0" err="1"/>
              <a:t>buy</a:t>
            </a:r>
            <a:r>
              <a:rPr lang="it-IT" dirty="0"/>
              <a:t> X with an </a:t>
            </a:r>
            <a:r>
              <a:rPr lang="it-IT" dirty="0" err="1"/>
              <a:t>amount</a:t>
            </a:r>
            <a:r>
              <a:rPr lang="it-IT" dirty="0"/>
              <a:t> ∆y of Y), and the </a:t>
            </a:r>
            <a:r>
              <a:rPr lang="it-IT" dirty="0" err="1"/>
              <a:t>problem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to split ∆y </a:t>
            </a:r>
            <a:r>
              <a:rPr lang="it-IT" dirty="0" err="1"/>
              <a:t>among</a:t>
            </a:r>
            <a:r>
              <a:rPr lang="it-IT" dirty="0"/>
              <a:t> the </a:t>
            </a:r>
            <a:r>
              <a:rPr lang="it-IT" dirty="0" err="1"/>
              <a:t>AMMs</a:t>
            </a:r>
            <a:r>
              <a:rPr lang="it-IT" dirty="0"/>
              <a:t>  in </a:t>
            </a:r>
            <a:r>
              <a:rPr lang="it-IT" dirty="0" err="1"/>
              <a:t>order</a:t>
            </a:r>
            <a:r>
              <a:rPr lang="it-IT" dirty="0"/>
              <a:t> to </a:t>
            </a:r>
            <a:r>
              <a:rPr lang="it-IT" dirty="0" err="1"/>
              <a:t>maximise</a:t>
            </a:r>
            <a:r>
              <a:rPr lang="it-IT" dirty="0"/>
              <a:t> the </a:t>
            </a:r>
            <a:r>
              <a:rPr lang="it-IT" dirty="0" err="1"/>
              <a:t>total</a:t>
            </a:r>
            <a:r>
              <a:rPr lang="it-IT" dirty="0"/>
              <a:t> </a:t>
            </a:r>
            <a:r>
              <a:rPr lang="it-IT" dirty="0" err="1"/>
              <a:t>amount</a:t>
            </a:r>
            <a:r>
              <a:rPr lang="it-IT" dirty="0"/>
              <a:t> of X </a:t>
            </a:r>
            <a:r>
              <a:rPr lang="it-IT" dirty="0" err="1"/>
              <a:t>obtained</a:t>
            </a:r>
            <a:r>
              <a:rPr lang="it-IT" dirty="0"/>
              <a:t>.</a:t>
            </a:r>
          </a:p>
          <a:p>
            <a:endParaRPr lang="it-IT" b="1" dirty="0"/>
          </a:p>
          <a:p>
            <a:endParaRPr lang="it-IT" dirty="0"/>
          </a:p>
          <a:p>
            <a:pPr marL="0" indent="0">
              <a:buNone/>
            </a:pPr>
            <a:endParaRPr lang="it-IT" i="1" dirty="0">
              <a:solidFill>
                <a:srgbClr val="0043CC"/>
              </a:solidFill>
              <a:cs typeface="APPLE CHANCERY" panose="03020702040506060504" pitchFamily="66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22891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67ACF2-B006-0773-F0C2-7D6430A6D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0298"/>
          </a:xfrm>
        </p:spPr>
        <p:txBody>
          <a:bodyPr>
            <a:normAutofit fontScale="90000"/>
          </a:bodyPr>
          <a:lstStyle/>
          <a:p>
            <a:r>
              <a:rPr lang="en-GB" dirty="0"/>
              <a:t>PPMs</a:t>
            </a:r>
          </a:p>
        </p:txBody>
      </p:sp>
      <p:pic>
        <p:nvPicPr>
          <p:cNvPr id="4" name="Segnaposto contenuto 3">
            <a:extLst>
              <a:ext uri="{FF2B5EF4-FFF2-40B4-BE49-F238E27FC236}">
                <a16:creationId xmlns:a16="http://schemas.microsoft.com/office/drawing/2014/main" id="{8EC4DA54-9BB3-B75F-870C-E370BEC530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3006" y="995424"/>
            <a:ext cx="10160000" cy="2984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7EF6DDF8-415E-5FE3-40FE-FFC22A353037}"/>
                  </a:ext>
                </a:extLst>
              </p:cNvPr>
              <p:cNvSpPr txBox="1"/>
              <p:nvPr/>
            </p:nvSpPr>
            <p:spPr>
              <a:xfrm>
                <a:off x="653006" y="4123638"/>
                <a:ext cx="11037424" cy="3323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GB" sz="2000" dirty="0"/>
                  <a:t>We also suppose </a:t>
                </a:r>
                <a14:m>
                  <m:oMath xmlns:m="http://schemas.openxmlformats.org/officeDocument/2006/math"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it-IT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it-IT" sz="2000" b="0" dirty="0">
                  <a:ea typeface="Cambria Math" panose="02040503050406030204" pitchFamily="18" charset="0"/>
                </a:endParaRPr>
              </a:p>
              <a:p>
                <a:pPr marL="285750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it-IT" sz="2000" dirty="0"/>
                  <a:t>The component </a:t>
                </a:r>
                <a:r>
                  <a:rPr lang="it-IT" sz="2000" dirty="0" err="1"/>
                  <a:t>functions</a:t>
                </a:r>
                <a:r>
                  <a:rPr lang="it-IT" sz="2000" dirty="0"/>
                  <a:t> x and y determine the size of the </a:t>
                </a:r>
                <a:r>
                  <a:rPr lang="it-IT" sz="2000" dirty="0" err="1"/>
                  <a:t>AMM’s</a:t>
                </a:r>
                <a:r>
                  <a:rPr lang="it-IT" sz="2000" dirty="0"/>
                  <a:t> </a:t>
                </a:r>
                <a:r>
                  <a:rPr lang="it-IT" sz="2000" dirty="0" err="1"/>
                  <a:t>reserves</a:t>
                </a:r>
                <a:r>
                  <a:rPr lang="it-IT" sz="2000" dirty="0"/>
                  <a:t> in X and Y </a:t>
                </a:r>
                <a:r>
                  <a:rPr lang="it-IT" sz="2000" dirty="0" err="1"/>
                  <a:t>as</a:t>
                </a:r>
                <a:r>
                  <a:rPr lang="it-IT" sz="2000" dirty="0"/>
                  <a:t> (</a:t>
                </a:r>
                <a:r>
                  <a:rPr lang="it-IT" sz="2000" dirty="0" err="1"/>
                  <a:t>bijective</a:t>
                </a:r>
                <a:r>
                  <a:rPr lang="it-IT" sz="2000" dirty="0"/>
                  <a:t>) </a:t>
                </a:r>
                <a:r>
                  <a:rPr lang="it-IT" sz="2000" dirty="0" err="1"/>
                  <a:t>functions</a:t>
                </a:r>
                <a:r>
                  <a:rPr lang="it-IT" sz="2000" dirty="0"/>
                  <a:t> of the </a:t>
                </a:r>
                <a:r>
                  <a:rPr lang="it-IT" sz="2000" dirty="0" err="1"/>
                  <a:t>AMM’s</a:t>
                </a:r>
                <a:r>
                  <a:rPr lang="it-IT" sz="2000" dirty="0"/>
                  <a:t> </a:t>
                </a:r>
                <a:r>
                  <a:rPr lang="it-IT" sz="2000" dirty="0" err="1"/>
                  <a:t>current</a:t>
                </a:r>
                <a:r>
                  <a:rPr lang="it-IT" sz="2000" dirty="0"/>
                  <a:t> (</a:t>
                </a:r>
                <a:r>
                  <a:rPr lang="it-IT" sz="2000" dirty="0" err="1"/>
                  <a:t>marginal</a:t>
                </a:r>
                <a:r>
                  <a:rPr lang="it-IT" sz="2000" dirty="0"/>
                  <a:t>) price p. </a:t>
                </a:r>
                <a:r>
                  <a:rPr lang="it-IT" sz="2000" dirty="0" err="1"/>
                  <a:t>Therefore</a:t>
                </a:r>
                <a:r>
                  <a:rPr lang="it-IT" sz="2000" dirty="0"/>
                  <a:t> the price </a:t>
                </a:r>
                <a:r>
                  <a:rPr lang="it-IT" sz="2000" dirty="0" err="1"/>
                  <a:t>is</a:t>
                </a:r>
                <a:r>
                  <a:rPr lang="it-IT" sz="2000" dirty="0"/>
                  <a:t> </a:t>
                </a:r>
                <a:r>
                  <a:rPr lang="it-IT" sz="2000" dirty="0" err="1"/>
                  <a:t>sufficient</a:t>
                </a:r>
                <a:r>
                  <a:rPr lang="it-IT" sz="2000" dirty="0"/>
                  <a:t> to </a:t>
                </a:r>
                <a:r>
                  <a:rPr lang="it-IT" sz="2000" dirty="0" err="1"/>
                  <a:t>describe</a:t>
                </a:r>
                <a:r>
                  <a:rPr lang="it-IT" sz="2000" dirty="0"/>
                  <a:t> the state of a PPM</a:t>
                </a:r>
              </a:p>
              <a:p>
                <a:pPr marL="285750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it-IT" sz="2000" dirty="0"/>
                  <a:t>One </a:t>
                </a:r>
                <a:r>
                  <a:rPr lang="it-IT" sz="2000" dirty="0" err="1"/>
                  <a:t>says</a:t>
                </a:r>
                <a:r>
                  <a:rPr lang="it-IT" sz="2000" dirty="0"/>
                  <a:t> a PPM </a:t>
                </a:r>
                <a:r>
                  <a:rPr lang="it-IT" sz="2000" dirty="0" err="1"/>
                  <a:t>is</a:t>
                </a:r>
                <a:r>
                  <a:rPr lang="it-IT" sz="2000" dirty="0"/>
                  <a:t> </a:t>
                </a:r>
                <a:r>
                  <a:rPr lang="it-IT" sz="2000" dirty="0" err="1"/>
                  <a:t>normalised</a:t>
                </a:r>
                <a:r>
                  <a:rPr lang="it-IT" sz="2000" dirty="0"/>
                  <a:t> </a:t>
                </a:r>
                <a:r>
                  <a:rPr lang="it-IT" sz="2000" dirty="0" err="1"/>
                  <a:t>if</a:t>
                </a:r>
                <a:r>
                  <a:rPr lang="it-IT" sz="2000" dirty="0"/>
                  <a:t> y(a) = x(b) = 0.</a:t>
                </a:r>
              </a:p>
              <a:p>
                <a:pPr marL="285750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it-IT" sz="2000" dirty="0"/>
                  <a:t> ∆x≤0 </a:t>
                </a:r>
                <a:r>
                  <a:rPr lang="it-IT" sz="2000" dirty="0" err="1"/>
                  <a:t>iﬀ</a:t>
                </a:r>
                <a:r>
                  <a:rPr lang="it-IT" sz="2000" dirty="0"/>
                  <a:t> ∆y≥0  </a:t>
                </a:r>
                <a:r>
                  <a:rPr lang="it-IT" sz="2000" dirty="0" err="1"/>
                  <a:t>iﬀ</a:t>
                </a:r>
                <a:r>
                  <a:rPr lang="it-IT" sz="2000" dirty="0"/>
                  <a:t> ∆p≥0.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it-IT" sz="2000" dirty="0"/>
              </a:p>
              <a:p>
                <a:endParaRPr lang="it-IT" sz="2000" b="0" dirty="0">
                  <a:ea typeface="Cambria Math" panose="02040503050406030204" pitchFamily="18" charset="0"/>
                </a:endParaRPr>
              </a:p>
              <a:p>
                <a:endParaRPr lang="en-GB" sz="2000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7EF6DDF8-415E-5FE3-40FE-FFC22A3530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006" y="4123638"/>
                <a:ext cx="11037424" cy="3323987"/>
              </a:xfrm>
              <a:prstGeom prst="rect">
                <a:avLst/>
              </a:prstGeom>
              <a:blipFill>
                <a:blip r:embed="rId3"/>
                <a:stretch>
                  <a:fillRect l="-460" t="-3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071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7441D6F-8CA5-33C2-9840-69DFF2C9B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4010"/>
            <a:ext cx="10515600" cy="5632953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Example (Uniswap v3)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C05A4B15-1B59-7549-B305-0EE88F867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60" y="1050876"/>
            <a:ext cx="4622800" cy="901700"/>
          </a:xfrm>
          <a:prstGeom prst="rect">
            <a:avLst/>
          </a:prstGeom>
        </p:spPr>
      </p:pic>
      <p:sp>
        <p:nvSpPr>
          <p:cNvPr id="5" name="Freccia destra 4">
            <a:extLst>
              <a:ext uri="{FF2B5EF4-FFF2-40B4-BE49-F238E27FC236}">
                <a16:creationId xmlns:a16="http://schemas.microsoft.com/office/drawing/2014/main" id="{1FE3F202-BB52-453C-92B7-E5C7139AF0FF}"/>
              </a:ext>
            </a:extLst>
          </p:cNvPr>
          <p:cNvSpPr/>
          <p:nvPr/>
        </p:nvSpPr>
        <p:spPr>
          <a:xfrm>
            <a:off x="5461000" y="1276301"/>
            <a:ext cx="902826" cy="4508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DFDB99FC-0615-24F0-EFC9-0005B5492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5794" y="856526"/>
            <a:ext cx="2073985" cy="1303027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38DDDD3E-0EEF-A304-223A-B74085D44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5434" y="2475522"/>
            <a:ext cx="9300232" cy="3331602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CA2B8C9D-5976-CBCA-CDB5-97353711D63C}"/>
              </a:ext>
            </a:extLst>
          </p:cNvPr>
          <p:cNvSpPr txBox="1"/>
          <p:nvPr/>
        </p:nvSpPr>
        <p:spPr>
          <a:xfrm>
            <a:off x="1878227" y="3669956"/>
            <a:ext cx="123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        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18A8595C-8D87-813B-4E4E-82806C70D9A8}"/>
              </a:ext>
            </a:extLst>
          </p:cNvPr>
          <p:cNvSpPr/>
          <p:nvPr/>
        </p:nvSpPr>
        <p:spPr>
          <a:xfrm flipH="1" flipV="1">
            <a:off x="2212348" y="4836352"/>
            <a:ext cx="221932" cy="2299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F9CC04B-1ABA-5284-23C5-034B8E549D30}"/>
              </a:ext>
            </a:extLst>
          </p:cNvPr>
          <p:cNvSpPr txBox="1"/>
          <p:nvPr/>
        </p:nvSpPr>
        <p:spPr>
          <a:xfrm>
            <a:off x="2162676" y="4820506"/>
            <a:ext cx="3212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2:</a:t>
            </a:r>
          </a:p>
        </p:txBody>
      </p:sp>
    </p:spTree>
    <p:extLst>
      <p:ext uri="{BB962C8B-B14F-4D97-AF65-F5344CB8AC3E}">
        <p14:creationId xmlns:p14="http://schemas.microsoft.com/office/powerpoint/2010/main" val="3649096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egnaposto contenuto 3">
            <a:extLst>
              <a:ext uri="{FF2B5EF4-FFF2-40B4-BE49-F238E27FC236}">
                <a16:creationId xmlns:a16="http://schemas.microsoft.com/office/drawing/2014/main" id="{7DA57CE3-1645-21A7-3328-6E66FDC741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8550" y="413214"/>
            <a:ext cx="9994900" cy="22860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7EE3F51B-69B2-514F-9B1E-99E25884BC14}"/>
              </a:ext>
            </a:extLst>
          </p:cNvPr>
          <p:cNvSpPr txBox="1"/>
          <p:nvPr/>
        </p:nvSpPr>
        <p:spPr>
          <a:xfrm>
            <a:off x="662452" y="3119510"/>
            <a:ext cx="999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Volume-Volume maps are concave</a:t>
            </a:r>
          </a:p>
          <a:p>
            <a:endParaRPr lang="en-GB" sz="2000" b="1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19E6EDFE-E28E-A036-C461-8814943EC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52" y="3827396"/>
            <a:ext cx="2705100" cy="990600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C5827664-87BC-5099-38EC-96E8BE87C3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3277" y="3828380"/>
            <a:ext cx="2705100" cy="990600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6CE170F1-FA30-7B38-C282-DDF1AF72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4103" y="3827396"/>
            <a:ext cx="2705100" cy="990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D24B9D10-E33B-F4E9-FDD7-7279818C8797}"/>
                  </a:ext>
                </a:extLst>
              </p:cNvPr>
              <p:cNvSpPr txBox="1"/>
              <p:nvPr/>
            </p:nvSpPr>
            <p:spPr>
              <a:xfrm>
                <a:off x="662452" y="5345724"/>
                <a:ext cx="56147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Thus –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m:rPr>
                        <m:sty m:val="p"/>
                      </m:rP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GB" dirty="0"/>
                  <a:t> is positive increasing and concave</a:t>
                </a:r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D24B9D10-E33B-F4E9-FDD7-7279818C8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52" y="5345724"/>
                <a:ext cx="5614780" cy="369332"/>
              </a:xfrm>
              <a:prstGeom prst="rect">
                <a:avLst/>
              </a:prstGeom>
              <a:blipFill>
                <a:blip r:embed="rId6"/>
                <a:stretch>
                  <a:fillRect l="-903" t="-6452" b="-225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0195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8DA89B-640D-26B7-BC92-2C6C57510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Splits and sums of PPMs</a:t>
            </a:r>
          </a:p>
        </p:txBody>
      </p:sp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19B3A535-69EF-CE6E-354D-28629F053A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105425"/>
            <a:ext cx="10490200" cy="2984500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43BD08A9-950A-D6B7-FBF4-73851AC0D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227" y="1390264"/>
            <a:ext cx="9276232" cy="1715161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23B106FC-9853-BCD3-21F9-C7089CD57F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7100" y="6173698"/>
            <a:ext cx="7772400" cy="319177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02FDCED-ECAC-CCDA-CF28-8099A7E4CBFA}"/>
              </a:ext>
            </a:extLst>
          </p:cNvPr>
          <p:cNvSpPr txBox="1"/>
          <p:nvPr/>
        </p:nvSpPr>
        <p:spPr>
          <a:xfrm>
            <a:off x="1165227" y="5720593"/>
            <a:ext cx="8388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Figure 3: Uniswap v.3 split and sum</a:t>
            </a:r>
          </a:p>
        </p:txBody>
      </p:sp>
    </p:spTree>
    <p:extLst>
      <p:ext uri="{BB962C8B-B14F-4D97-AF65-F5344CB8AC3E}">
        <p14:creationId xmlns:p14="http://schemas.microsoft.com/office/powerpoint/2010/main" val="1102619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F12CD2-DE6C-BD28-335B-CFC3C9099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Best Execution of a Family of PPMs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25AAA78-AA14-257E-EDCC-83DCE05F5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565" y="1566132"/>
            <a:ext cx="10628870" cy="3078997"/>
          </a:xfrm>
          <a:prstGeom prst="rect">
            <a:avLst/>
          </a:prstGeom>
        </p:spPr>
      </p:pic>
      <p:sp>
        <p:nvSpPr>
          <p:cNvPr id="5" name="Rettangolo 4">
            <a:extLst>
              <a:ext uri="{FF2B5EF4-FFF2-40B4-BE49-F238E27FC236}">
                <a16:creationId xmlns:a16="http://schemas.microsoft.com/office/drawing/2014/main" id="{28816519-FD70-6A91-0498-C9FB7908330C}"/>
              </a:ext>
            </a:extLst>
          </p:cNvPr>
          <p:cNvSpPr/>
          <p:nvPr/>
        </p:nvSpPr>
        <p:spPr>
          <a:xfrm>
            <a:off x="9539416" y="3076832"/>
            <a:ext cx="333633" cy="1729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5F846E7-F74C-B446-9307-C519A459D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565" y="5294533"/>
            <a:ext cx="6600568" cy="35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63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egnaposto contenuto 3">
            <a:extLst>
              <a:ext uri="{FF2B5EF4-FFF2-40B4-BE49-F238E27FC236}">
                <a16:creationId xmlns:a16="http://schemas.microsoft.com/office/drawing/2014/main" id="{E9927872-8BC8-1397-27AE-79B8FB15CB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2200" y="610296"/>
            <a:ext cx="10007600" cy="9017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CC2F20A7-ACA2-A7DD-9B6C-6008B85849C7}"/>
              </a:ext>
            </a:extLst>
          </p:cNvPr>
          <p:cNvSpPr txBox="1"/>
          <p:nvPr/>
        </p:nvSpPr>
        <p:spPr>
          <a:xfrm>
            <a:off x="942535" y="1511996"/>
            <a:ext cx="9200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[EkT76] </a:t>
            </a:r>
            <a:endParaRPr 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(‘Convex Optimization, Boyd’ 4.2.2)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7AA3B5C-C96A-2FDF-80CC-2C093B1EFB3C}"/>
              </a:ext>
            </a:extLst>
          </p:cNvPr>
          <p:cNvSpPr txBox="1"/>
          <p:nvPr/>
        </p:nvSpPr>
        <p:spPr>
          <a:xfrm>
            <a:off x="497058" y="2644529"/>
            <a:ext cx="96457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latin typeface="+mj-lt"/>
              </a:rPr>
              <a:t>Reformulation of the problem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81CCD55D-D710-2C59-FAE9-069C60F6A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3352415"/>
            <a:ext cx="8890000" cy="2967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677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DE9A68-7D94-F6C7-47F8-A6E486351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14F6A41-30A4-3778-FC2D-46F6A73BA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Proof: …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BF3AD177-6625-C5A8-20E4-E9980337A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04" y="2858838"/>
            <a:ext cx="10856191" cy="748009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CD60EF28-7178-F675-CDB6-1D97B8083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452" y="666362"/>
            <a:ext cx="9532722" cy="1608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5448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F39759-30B3-B88C-72C4-1123FD007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8D0A7E1-834B-5AD7-C812-C0BED6131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CDB97F01-12E7-2206-96EA-B90083B9D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20504"/>
            <a:ext cx="9588781" cy="2808496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457C7D8A-53D6-4020-203D-C379A8249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677" y="4149969"/>
            <a:ext cx="9858652" cy="880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7447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B5E396-543B-7A0D-FA14-57E72033A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Push and Solve Algorithm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EFDEBAA-52B0-17D5-20D4-842CA961A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AA9EEF9-FBCA-AD30-F9B7-22211F94F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66" y="1473933"/>
            <a:ext cx="11573617" cy="2413925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3222B207-3209-6C70-E432-1F52E870D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21" y="4200671"/>
            <a:ext cx="11247305" cy="186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4321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B796B9-A814-EE17-5744-DE4B8CE67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54DF09A-224E-0FB3-8C23-57DC784CC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1A77FABB-7FEA-D594-BD31-2EC6BC1633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856" y="321016"/>
            <a:ext cx="11696144" cy="1325563"/>
          </a:xfrm>
          <a:prstGeom prst="rect">
            <a:avLst/>
          </a:prstGeom>
        </p:spPr>
      </p:pic>
      <p:pic>
        <p:nvPicPr>
          <p:cNvPr id="7" name="download.mp4">
            <a:hlinkClick r:id="" action="ppaction://media"/>
            <a:extLst>
              <a:ext uri="{FF2B5EF4-FFF2-40B4-BE49-F238E27FC236}">
                <a16:creationId xmlns:a16="http://schemas.microsoft.com/office/drawing/2014/main" id="{29597090-FC8B-7A03-0E10-A3254ED592E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260050" y="1860794"/>
            <a:ext cx="774223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91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46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 mute="1">
                <p:cTn id="1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3C7C86-96CC-93D4-30F3-C2CB5EC1F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CDC3B6C5-C610-13A7-BF41-99F50C43A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9" name="Segnaposto contenuto 3">
            <a:extLst>
              <a:ext uri="{FF2B5EF4-FFF2-40B4-BE49-F238E27FC236}">
                <a16:creationId xmlns:a16="http://schemas.microsoft.com/office/drawing/2014/main" id="{7AF39A83-267A-5DE4-DA30-BBBBBB38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10515600" cy="1822704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52F71FCD-58D7-8E87-E3E5-6C51C4BC7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606709"/>
            <a:ext cx="10413715" cy="3372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155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595466-32A1-BEF3-F99D-8B5478331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C7BE967-CD8F-CCC1-7402-C50A2A2AF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The algorithm is </a:t>
            </a:r>
            <a:r>
              <a:rPr lang="en-GB" i="1" dirty="0"/>
              <a:t>query optimal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6E0EA9B-0C09-863C-CAFA-EE5586C5C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385" y="365125"/>
            <a:ext cx="10577230" cy="2196034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0F4B034A-36CC-B977-A993-58A685F65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245" y="2903277"/>
            <a:ext cx="11885755" cy="219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4465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CCB035-955F-758A-19A0-11E3C67B2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246"/>
            <a:ext cx="7925972" cy="760289"/>
          </a:xfrm>
        </p:spPr>
        <p:txBody>
          <a:bodyPr>
            <a:normAutofit/>
          </a:bodyPr>
          <a:lstStyle/>
          <a:p>
            <a:r>
              <a:rPr lang="en-GB" sz="3200" dirty="0"/>
              <a:t>Application to convenient family of PPMs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1BFD4C2-BE1C-617F-5FFC-D015B350A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433" y="1825625"/>
            <a:ext cx="11090367" cy="4351338"/>
          </a:xfrm>
        </p:spPr>
        <p:txBody>
          <a:bodyPr/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r>
              <a:rPr lang="en-GB" sz="1400" dirty="0"/>
              <a:t>Then </a:t>
            </a:r>
            <a:r>
              <a:rPr lang="it-IT" sz="1400" dirty="0" err="1"/>
              <a:t>if</a:t>
            </a:r>
            <a:r>
              <a:rPr lang="it-IT" sz="1400" dirty="0"/>
              <a:t> </a:t>
            </a:r>
            <a:r>
              <a:rPr lang="it-IT" sz="1400" dirty="0" err="1"/>
              <a:t>we</a:t>
            </a:r>
            <a:r>
              <a:rPr lang="it-IT" sz="1400" dirty="0"/>
              <a:t> suppose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all</a:t>
            </a:r>
            <a:r>
              <a:rPr lang="it-IT" sz="1400" dirty="0"/>
              <a:t> sources in </a:t>
            </a:r>
            <a:r>
              <a:rPr lang="it-IT" sz="1400" i="1" dirty="0" err="1"/>
              <a:t>F</a:t>
            </a:r>
            <a:r>
              <a:rPr lang="it-IT" sz="1400" dirty="0"/>
              <a:t> </a:t>
            </a:r>
            <a:r>
              <a:rPr lang="it-IT" sz="1400" dirty="0" err="1"/>
              <a:t>obey</a:t>
            </a:r>
            <a:r>
              <a:rPr lang="it-IT" sz="1400" dirty="0"/>
              <a:t> the </a:t>
            </a:r>
            <a:r>
              <a:rPr lang="it-IT" sz="1400" dirty="0" err="1"/>
              <a:t>same</a:t>
            </a:r>
            <a:r>
              <a:rPr lang="it-IT" sz="1400" dirty="0"/>
              <a:t> </a:t>
            </a:r>
            <a:r>
              <a:rPr lang="it-IT" sz="1400" dirty="0" err="1"/>
              <a:t>convenient</a:t>
            </a:r>
            <a:r>
              <a:rPr lang="it-IT" sz="1400" dirty="0"/>
              <a:t> format with </a:t>
            </a:r>
            <a:r>
              <a:rPr lang="it-IT" sz="1400" dirty="0" err="1"/>
              <a:t>functions</a:t>
            </a:r>
            <a:r>
              <a:rPr lang="it-IT" sz="1400" dirty="0"/>
              <a:t> </a:t>
            </a:r>
            <a:r>
              <a:rPr lang="el-GR" sz="1400" dirty="0"/>
              <a:t>φ, ψ, </a:t>
            </a:r>
            <a:r>
              <a:rPr lang="it-IT" sz="1400" dirty="0"/>
              <a:t>the </a:t>
            </a:r>
            <a:r>
              <a:rPr lang="it-IT" sz="1400" dirty="0" err="1"/>
              <a:t>equation</a:t>
            </a:r>
            <a:r>
              <a:rPr lang="it-IT" sz="1400" dirty="0"/>
              <a:t> in the solve step takes the following </a:t>
            </a:r>
            <a:r>
              <a:rPr lang="it-IT" sz="1400" dirty="0" err="1"/>
              <a:t>simpler</a:t>
            </a:r>
            <a:r>
              <a:rPr lang="it-IT" sz="1400" dirty="0"/>
              <a:t> form:</a:t>
            </a:r>
          </a:p>
          <a:p>
            <a:pPr marL="0" indent="0">
              <a:buNone/>
            </a:pPr>
            <a:endParaRPr lang="en-GB" sz="120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6D16294-A211-129D-7001-B386AF360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33" y="1161266"/>
            <a:ext cx="11665134" cy="1699776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055E65A0-0ABD-961A-01B9-87333CD2C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098800"/>
            <a:ext cx="6311900" cy="33020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EBB34BD6-DC55-1BF3-8C4E-29C095BADC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394114"/>
            <a:ext cx="10459457" cy="190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3954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196F1B-487D-D8C9-4D77-45DCAC0FE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Slippage calculations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C9516C9-EED8-DA55-83C1-713C0A5B5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22D48252-8E08-128E-5447-0CEBD612A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13" y="1655269"/>
            <a:ext cx="12276464" cy="2346025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7A06C83A-DF7C-8FAC-0921-0CF181EBF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9" y="4001294"/>
            <a:ext cx="12237304" cy="202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2626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081232-9F3B-4FEC-C4B5-ADF76AC96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C2E8F95-AE59-E026-FE13-4668BCE2A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>
                <a:hlinkClick r:id="rId2"/>
              </a:rPr>
              <a:t>https://app.uniswap.org/whitepaper-v3.pdf</a:t>
            </a:r>
            <a:r>
              <a:rPr lang="en-GB" dirty="0"/>
              <a:t> (Uniswap v.3 core)</a:t>
            </a:r>
          </a:p>
          <a:p>
            <a:r>
              <a:rPr lang="en-GB" dirty="0">
                <a:hlinkClick r:id="rId3"/>
              </a:rPr>
              <a:t>https://arxiv.org/pdf/1911.03380</a:t>
            </a:r>
            <a:r>
              <a:rPr lang="en-GB" dirty="0"/>
              <a:t> (An Analysis of Uniswap Markets)</a:t>
            </a:r>
          </a:p>
          <a:p>
            <a:r>
              <a:rPr lang="en-GB" dirty="0">
                <a:hlinkClick r:id="rId4"/>
              </a:rPr>
              <a:t>https://arxiv.org/pdf/2208.06046</a:t>
            </a:r>
            <a:r>
              <a:rPr lang="en-GB" dirty="0"/>
              <a:t> (AMM and Loss vs Rebalancing)</a:t>
            </a:r>
          </a:p>
          <a:p>
            <a:r>
              <a:rPr lang="en-GB" dirty="0"/>
              <a:t>For general optimal routing: </a:t>
            </a:r>
            <a:r>
              <a:rPr lang="en-GB" dirty="0">
                <a:hlinkClick r:id="rId5"/>
              </a:rPr>
              <a:t>https://arxiv.org/pdf/2204.05238</a:t>
            </a:r>
            <a:r>
              <a:rPr lang="en-GB" dirty="0"/>
              <a:t> and </a:t>
            </a:r>
            <a:r>
              <a:rPr lang="en-GB" dirty="0">
                <a:hlinkClick r:id="rId6"/>
              </a:rPr>
              <a:t>https://arxiv.org/pdf/2302.04938</a:t>
            </a:r>
            <a:r>
              <a:rPr lang="en-GB" dirty="0"/>
              <a:t> </a:t>
            </a:r>
          </a:p>
          <a:p>
            <a:r>
              <a:rPr lang="en-GB" dirty="0">
                <a:hlinkClick r:id="rId7"/>
              </a:rPr>
              <a:t>https://web.stanford.edu/~boyd/cvxbook/bv_cvxbook.pdf</a:t>
            </a:r>
            <a:r>
              <a:rPr lang="en-GB" dirty="0"/>
              <a:t> (‘Convex Optimization’)</a:t>
            </a:r>
          </a:p>
          <a:p>
            <a:r>
              <a:rPr lang="it-IT" dirty="0"/>
              <a:t>[EkT76] Ekeland, I., and Teman, </a:t>
            </a:r>
            <a:r>
              <a:rPr lang="it-IT" dirty="0" err="1"/>
              <a:t>R</a:t>
            </a:r>
            <a:r>
              <a:rPr lang="it-IT" dirty="0"/>
              <a:t>., 1976. </a:t>
            </a:r>
            <a:r>
              <a:rPr lang="it-IT" dirty="0" err="1"/>
              <a:t>Convex</a:t>
            </a:r>
            <a:r>
              <a:rPr lang="it-IT" dirty="0"/>
              <a:t> Analysis and </a:t>
            </a:r>
            <a:r>
              <a:rPr lang="it-IT" dirty="0" err="1"/>
              <a:t>Variational</a:t>
            </a:r>
            <a:r>
              <a:rPr lang="it-IT" dirty="0"/>
              <a:t> </a:t>
            </a:r>
            <a:r>
              <a:rPr lang="it-IT" dirty="0" err="1"/>
              <a:t>Problems</a:t>
            </a:r>
            <a:r>
              <a:rPr lang="it-IT" dirty="0"/>
              <a:t>, North-Holland </a:t>
            </a:r>
            <a:r>
              <a:rPr lang="it-IT" dirty="0" err="1"/>
              <a:t>Publ</a:t>
            </a:r>
            <a:r>
              <a:rPr lang="it-IT" dirty="0"/>
              <a:t>., Amsterdam.</a:t>
            </a:r>
          </a:p>
          <a:p>
            <a:r>
              <a:rPr lang="it-IT" dirty="0"/>
              <a:t>Michael Patriksson, ‘A survey on the </a:t>
            </a:r>
            <a:r>
              <a:rPr lang="it-IT" dirty="0" err="1"/>
              <a:t>continuous</a:t>
            </a:r>
            <a:r>
              <a:rPr lang="it-IT" dirty="0"/>
              <a:t> </a:t>
            </a:r>
            <a:r>
              <a:rPr lang="it-IT" dirty="0" err="1"/>
              <a:t>nonlinear</a:t>
            </a:r>
            <a:r>
              <a:rPr lang="it-IT" dirty="0"/>
              <a:t> </a:t>
            </a:r>
            <a:r>
              <a:rPr lang="it-IT" dirty="0" err="1"/>
              <a:t>resource</a:t>
            </a:r>
            <a:r>
              <a:rPr lang="it-IT" dirty="0"/>
              <a:t> </a:t>
            </a:r>
            <a:r>
              <a:rPr lang="it-IT" dirty="0" err="1"/>
              <a:t>allocation</a:t>
            </a:r>
            <a:r>
              <a:rPr lang="it-IT" dirty="0"/>
              <a:t> </a:t>
            </a:r>
            <a:r>
              <a:rPr lang="it-IT" dirty="0" err="1"/>
              <a:t>problem</a:t>
            </a:r>
            <a:r>
              <a:rPr lang="it-IT" dirty="0"/>
              <a:t>’. (off-chain </a:t>
            </a:r>
            <a:r>
              <a:rPr lang="it-IT" dirty="0" err="1"/>
              <a:t>algorithmic</a:t>
            </a:r>
            <a:r>
              <a:rPr lang="it-IT" dirty="0"/>
              <a:t> </a:t>
            </a:r>
            <a:r>
              <a:rPr lang="it-IT" dirty="0" err="1"/>
              <a:t>solutions</a:t>
            </a:r>
            <a:r>
              <a:rPr lang="it-IT" dirty="0"/>
              <a:t> to the </a:t>
            </a:r>
            <a:r>
              <a:rPr lang="it-IT" dirty="0" err="1"/>
              <a:t>problem</a:t>
            </a:r>
            <a:r>
              <a:rPr lang="it-IT" dirty="0"/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45026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41835</TotalTime>
  <Words>1216</Words>
  <Application>Microsoft Macintosh PowerPoint</Application>
  <PresentationFormat>Widescreen</PresentationFormat>
  <Paragraphs>128</Paragraphs>
  <Slides>24</Slides>
  <Notes>1</Notes>
  <HiddenSlides>0</HiddenSlides>
  <MMClips>1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24</vt:i4>
      </vt:variant>
    </vt:vector>
  </HeadingPairs>
  <TitlesOfParts>
    <vt:vector size="31" baseType="lpstr">
      <vt:lpstr>Apple Chancery</vt:lpstr>
      <vt:lpstr>Apple Chancery</vt:lpstr>
      <vt:lpstr>Aptos</vt:lpstr>
      <vt:lpstr>Aptos Display</vt:lpstr>
      <vt:lpstr>Arial</vt:lpstr>
      <vt:lpstr>Cambria Math</vt:lpstr>
      <vt:lpstr>Tema di Office</vt:lpstr>
      <vt:lpstr>Automated Market Makers</vt:lpstr>
      <vt:lpstr>CEX vs DEX</vt:lpstr>
      <vt:lpstr>CFMMs </vt:lpstr>
      <vt:lpstr>Simplified example:    x ≡ETH/USDT ≡y (Uniswap v.2)   </vt:lpstr>
      <vt:lpstr>Presentazione standard di PowerPoint</vt:lpstr>
      <vt:lpstr>Uniswap v.3</vt:lpstr>
      <vt:lpstr>Presentazione standard di PowerPoint</vt:lpstr>
      <vt:lpstr>Optimal Splitting Problem</vt:lpstr>
      <vt:lpstr>Presentazione standard di PowerPoint</vt:lpstr>
      <vt:lpstr>PPMs</vt:lpstr>
      <vt:lpstr>Presentazione standard di PowerPoint</vt:lpstr>
      <vt:lpstr>Presentazione standard di PowerPoint</vt:lpstr>
      <vt:lpstr>Splits and sums of PPMs</vt:lpstr>
      <vt:lpstr>Best Execution of a Family of PPMs</vt:lpstr>
      <vt:lpstr>Presentazione standard di PowerPoint</vt:lpstr>
      <vt:lpstr>Presentazione standard di PowerPoint</vt:lpstr>
      <vt:lpstr>Presentazione standard di PowerPoint</vt:lpstr>
      <vt:lpstr>Push and Solve Algorithm</vt:lpstr>
      <vt:lpstr>Presentazione standard di PowerPoint</vt:lpstr>
      <vt:lpstr>Presentazione standard di PowerPoint</vt:lpstr>
      <vt:lpstr>Presentazione standard di PowerPoint</vt:lpstr>
      <vt:lpstr>Application to convenient family of PPMs</vt:lpstr>
      <vt:lpstr>Slippage calculations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Edoardo Pandolfo</dc:creator>
  <cp:lastModifiedBy>Edoardo Pandolfo</cp:lastModifiedBy>
  <cp:revision>4</cp:revision>
  <dcterms:created xsi:type="dcterms:W3CDTF">2026-04-25T12:05:29Z</dcterms:created>
  <dcterms:modified xsi:type="dcterms:W3CDTF">2026-05-26T17:18:15Z</dcterms:modified>
</cp:coreProperties>
</file>